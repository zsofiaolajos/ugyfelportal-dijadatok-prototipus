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yitás" id="{80944426-729d-b95d-2544-18a67a10d7c0}">
          <p14:sldIdLst>
            <p14:sldId id="256"/>
          </p14:sldIdLst>
        </p14:section>
        <p14:section name="Kiindulás" id="{c2dee32b-695f-4931-e536-e5b89b1a8912}">
          <p14:sldIdLst>
            <p14:sldId id="257"/>
            <p14:sldId id="258"/>
          </p14:sldIdLst>
        </p14:section>
        <p14:section name="A folyamat" id="{d455c4e5-e918-fd48-bcf7-b74d73617775}">
          <p14:sldIdLst>
            <p14:sldId id="259"/>
            <p14:sldId id="260"/>
            <p14:sldId id="261"/>
            <p14:sldId id="262"/>
            <p14:sldId id="263"/>
          </p14:sldIdLst>
        </p14:section>
        <p14:section name="Tanulságok" id="{0d3b01e9-bf0a-b980-f430-532a54f37e62}">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30 másodperc.
Sziasztok! Az AI képzés gyakorló feladataként egy valódi üzleti problémán próbáltam ki, hogyan lehet AI-val prototípust építeni. A téma az Ügyfél Portál díjadatai: egy felület, amelyen az ügyfél és a kollégák is látják egy szerződés befizetéseit, díjait és hátralékait. Nem a kódról fogok beszélni, hanem a folyamatról: hogyan dolgoztunk együtt az AI-val, és mit tanultam belőle.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40 másodperc.
A kiinduló pont egy pár mondatos feladatleírás volt: kattintható prototípus a szerződés folyószámlájáról, két nézettel. Az ügyfélnek egyszerű, kognitív terhelés nélküli nézet kell, a callcenternek és a tanácsadóknak pedig egy részletes, ahol egy helyen megvan minden díjjal kapcsolatos információ. Ami fontos: nem volt képernyőterv, nem voltak leírt üzleti szabályok, nem volt mintaadat, és a gépen még fejlesztői környezet sem. Ez tipikus helyzet egy ötlet elején.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40 másodperc.
A felület négy dolgot mutat: befizetéseket és kifizetéseket, díjelőírásokat, hátralékot és a speciális könyveléseket, például az átkönyvelést másik szerződésre. A lényeg a két nézet. Az ügyfél egyetlen kérdésre keres választ: rendben vagyok-e. Az ügyintéző viszont az ügyfél kérdésére keres választ, ehhez neki látnia kell a kerekítést, a könyvelési kódokat, a párosítást. A szerepkörök közti határt az érzékenység és az érthetőség jelöli 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50 másodperc.
Ez a legfontosabb dia. Nem azt kértem, hogy „csináld meg”, hanem az AI először tervet készített, és tisztázó kérdéseket tett fel: milyen anyagaim vannak, milyen formában kell, milyen szerepkörök legyenek. A tervet többször visszadobtam: szűkítettem a scope-ot, és kértem, hogy bontsa további allépésekre. Ebből lett öt szakasz, A-tól E-ig, összesen húsznál több kis lépéssel. Minden lépés végén az AI megmutatta az eredményt, és csak jóváhagyás után ment tovább. Így végig nálam maradt az irányítás. Jelenleg az első három szakasz kész.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45 másodperc.
Az első szakaszban egy sor kód sem született. Én adtam példákat: milyen tételtípusok vannak, mi miatt telefonálnak az ügyfelek, hogyan néz ki egy valós tételsor. Ebből az AI javaslatot tett, nyitott kérdésekkel, és én döntöttem. Négy anyag lett belőle: tételtípus-katalógus, adatmodell, láthatósági mátrix és négy forgatókönyv. A jobb oldalon látszik, milyen döntések voltak ezek: az AI felvetette őket, de az üzleti választ nekem kellett megadnom. Amit nem tudtam, azt az AI feltételezésként jelölte.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40 másodperc.
A második szakasz az alapokról szólt. Az AI telepítette a fejlesztői környezetet, a Groupama nyilvános honlapjáról kinyerte az arculati elemeket, és megírta az adatréteget. Két döntést emelnék ki. Egy: az egyenleget egyetlen számítás adja mindkét nézetnek, így nem fordulhat elő, hogy az ügyfél mást lát, mint a callcenter. Kettő: hogy mit lát az ügyfél, azt egyetlen szabálytábla dönti el, amit az üzlet is tud módosítani. Mindezt 65 automatikus teszt ellenőrzi, és ezek minden lépés után lefutnak.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45 másodperc.
Így néz ki az ügyfél nézet mobilon. Bal oldalt az állapotsor: egyetlen mondat arról, hogy rendben van-e a szerződés. Itt 2 760 forint nem rendezett díj. Középen egy kibontott tétel: az ügyfél rákattint, és köznyelven megkapja a választ – a díjat indexálták, ő még a régi csekkel fizetett. Ez pontosan az a kérdés, ami miatt ma telefonálnak. Jobbra egy sikertelen díjlehívás: a bank miért utasította el, és hogy azóta rendeződött, nincs teendője. A kerekítés, a belső kódok, a banki hibakód rejtve maradnak.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40 másodperc.
Az üzletnek nem a kódot kell megmutatni, hanem a felhasználói utat. Az AI a kész prototípusból öt folyamatábrát készített: egy áttekintőt és forgatókönyvenként egyet. Jobbra az első forgatókönyv látszik: Kovács Anna kérdésétől a magyarázatig és a kimenetig. A piros szaggatott blokk mutatja, mit nem lát az ügyfél – így a szerepkör-szabályokat is egyben bemutatja. Mermaid kódban készültek, ezért bemásolhatók draw.io-ba vagy Confluence-be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40 másodperc.
Fontos, hogy őszinte legyek: az AI is hibázik. A jó hír az, hogy ha megkérjük, ellenőrzi is a saját munkáját. Ezt a négy hibát nem én vettem észre, hanem az AI, a tesztek és a böngészős végigkattintás közben. A legérdekesebb az első: egy még nem esedékes díjnál azt írta ki, hogy „Hiányzik”, ami egy ügyfelet megijesztene. Tanulság: kérjük meg, hogy minden lépés után ellenőrizzen, és mutassa meg, mit nézett meg.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60 másodperc.
Hat tanulságot vinnék haza. Egy: tervvel kezdjünk, ne kóddal – az AI tisztázó kérdései többet értek, mint egy gyors első verzió. Kettő: kis lépések és kontrollpontok, így végig mi irányítunk. Három: először a tartalom, a mintaadat és a szabályok, utána a képernyő. Négy: amit nem tudunk, azt írassuk le feltételezésként, így később cserélhető. Öt: kérjük az ellenőrzést is, mert az AI a saját hibáit is megtalálja. És hat, a legfontosabb: a döntés emberi. Az AI javasol, de a scope-ot, a láthatóságot és a hangnemet nekünk kell meghatározni.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Időkeret: kb. 30 másodperc, utána kérdések.
Hogyan tovább: a következő szakasz az ügyintézői nézet, utána jön a felhasználói teszt és az üzleti bemutató. Ugyanígy fogjuk csinálni: kis lépésekben, kontrollpontokkal. Köszönöm a figyelmet, várom a kérdéseket!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ötét nyitó és záró">
    <p:bg>
      <p:bgPr>
        <a:solidFill>
          <a:srgbClr val="28316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29184" cy="32918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artalom">
    <p:bg>
      <p:bgPr>
        <a:solidFill>
          <a:srgbClr val="FA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357616" y="329184"/>
            <a:ext cx="310896" cy="310896"/>
          </a:xfrm>
          <a:prstGeom prst="rect">
            <a:avLst/>
          </a:prstGeom>
        </p:spPr>
      </p:pic>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rgbClr val="6C7B8A"/>
                </a:solidFill>
                <a:latin typeface="Calibri" pitchFamily="34" charset="0"/>
                <a:ea typeface="Calibri" pitchFamily="34" charset="-122"/>
                <a:cs typeface="Calibri" pitchFamily="34" charset="-120"/>
              </a:rPr>
              <a:t>AI képzés · Ügyfél Portál – Díjadatok prototípus</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143000"/>
            <a:ext cx="5120640" cy="274320"/>
          </a:xfrm>
          <a:prstGeom prst="rect">
            <a:avLst/>
          </a:prstGeom>
          <a:noFill/>
          <a:ln/>
        </p:spPr>
        <p:txBody>
          <a:bodyPr wrap="square" lIns="0" tIns="0" rIns="0" bIns="0" rtlCol="0" anchor="t"/>
          <a:lstStyle/>
          <a:p>
            <a:pPr indent="0" marL="0">
              <a:buNone/>
            </a:pPr>
            <a:r>
              <a:rPr lang="en-US" sz="1200" b="1" spc="200" kern="0" dirty="0">
                <a:solidFill>
                  <a:srgbClr val="45C396"/>
                </a:solidFill>
                <a:latin typeface="Calibri" pitchFamily="34" charset="0"/>
                <a:ea typeface="Calibri" pitchFamily="34" charset="-122"/>
                <a:cs typeface="Calibri" pitchFamily="34" charset="-120"/>
              </a:rPr>
              <a:t>AI KÉPZÉS · GYAKORLÓ PROJEKT</a:t>
            </a:r>
            <a:endParaRPr lang="en-US" sz="1200" dirty="0"/>
          </a:p>
        </p:txBody>
      </p:sp>
      <p:sp>
        <p:nvSpPr>
          <p:cNvPr id="3" name="Text 1"/>
          <p:cNvSpPr txBox="1"/>
          <p:nvPr/>
        </p:nvSpPr>
        <p:spPr>
          <a:xfrm>
            <a:off x="457200" y="1508760"/>
            <a:ext cx="5120640" cy="1280160"/>
          </a:xfrm>
          <a:prstGeom prst="rect">
            <a:avLst/>
          </a:prstGeom>
          <a:noFill/>
          <a:ln/>
        </p:spPr>
        <p:txBody>
          <a:bodyPr wrap="square" lIns="0" tIns="0" rIns="0" bIns="0" rtlCol="0" anchor="t"/>
          <a:lstStyle/>
          <a:p>
            <a:pPr indent="0" marL="0">
              <a:buNone/>
            </a:pPr>
            <a:r>
              <a:rPr lang="en-US" sz="3400" b="1" dirty="0">
                <a:solidFill>
                  <a:srgbClr val="FFFFFF"/>
                </a:solidFill>
                <a:latin typeface="Century Gothic" pitchFamily="34" charset="0"/>
                <a:ea typeface="Century Gothic" pitchFamily="34" charset="-122"/>
                <a:cs typeface="Century Gothic" pitchFamily="34" charset="-120"/>
              </a:rPr>
              <a:t>Prototípus AI-val, lépésről lépésre</a:t>
            </a:r>
            <a:endParaRPr lang="en-US" sz="3400" dirty="0"/>
          </a:p>
        </p:txBody>
      </p:sp>
      <p:sp>
        <p:nvSpPr>
          <p:cNvPr id="4" name="Text 2"/>
          <p:cNvSpPr txBox="1"/>
          <p:nvPr/>
        </p:nvSpPr>
        <p:spPr>
          <a:xfrm>
            <a:off x="457200" y="2926080"/>
            <a:ext cx="4846320" cy="640080"/>
          </a:xfrm>
          <a:prstGeom prst="rect">
            <a:avLst/>
          </a:prstGeom>
          <a:noFill/>
          <a:ln/>
        </p:spPr>
        <p:txBody>
          <a:bodyPr wrap="square" lIns="0" tIns="0" rIns="0" bIns="0" rtlCol="0" anchor="t"/>
          <a:lstStyle/>
          <a:p>
            <a:pPr indent="0" marL="0">
              <a:buNone/>
            </a:pPr>
            <a:r>
              <a:rPr lang="en-US" sz="1600" dirty="0">
                <a:solidFill>
                  <a:srgbClr val="D7DBEE"/>
                </a:solidFill>
                <a:latin typeface="Calibri" pitchFamily="34" charset="0"/>
                <a:ea typeface="Calibri" pitchFamily="34" charset="-122"/>
                <a:cs typeface="Calibri" pitchFamily="34" charset="-120"/>
              </a:rPr>
              <a:t>Ügyfél Portál – Díjadatok: a feladatleírástól a tesztelhető prototípusig</a:t>
            </a:r>
            <a:endParaRPr lang="en-US" sz="1600" dirty="0"/>
          </a:p>
        </p:txBody>
      </p:sp>
      <p:sp>
        <p:nvSpPr>
          <p:cNvPr id="5" name="Text 3"/>
          <p:cNvSpPr txBox="1"/>
          <p:nvPr/>
        </p:nvSpPr>
        <p:spPr>
          <a:xfrm>
            <a:off x="457200" y="4343400"/>
            <a:ext cx="2743200" cy="274320"/>
          </a:xfrm>
          <a:prstGeom prst="rect">
            <a:avLst/>
          </a:prstGeom>
          <a:noFill/>
          <a:ln/>
        </p:spPr>
        <p:txBody>
          <a:bodyPr wrap="square" lIns="0" tIns="0" rIns="0" bIns="0" rtlCol="0" anchor="t"/>
          <a:lstStyle/>
          <a:p>
            <a:pPr indent="0" marL="0">
              <a:buNone/>
            </a:pPr>
            <a:r>
              <a:rPr lang="en-US" sz="1200" dirty="0">
                <a:solidFill>
                  <a:srgbClr val="AEB5D6"/>
                </a:solidFill>
                <a:latin typeface="Calibri" pitchFamily="34" charset="0"/>
                <a:ea typeface="Calibri" pitchFamily="34" charset="-122"/>
                <a:cs typeface="Calibri" pitchFamily="34" charset="-120"/>
              </a:rPr>
              <a:t>2026. október</a:t>
            </a:r>
            <a:endParaRPr lang="en-US" sz="1200" dirty="0"/>
          </a:p>
        </p:txBody>
      </p:sp>
      <p:sp>
        <p:nvSpPr>
          <p:cNvPr id="6" name="Prototípus – ügyfél nézet keret"/>
          <p:cNvSpPr/>
          <p:nvPr/>
        </p:nvSpPr>
        <p:spPr>
          <a:xfrm>
            <a:off x="6291072" y="347472"/>
            <a:ext cx="2112782" cy="4425696"/>
          </a:xfrm>
          <a:prstGeom prst="roundRect">
            <a:avLst>
              <a:gd name="adj" fmla="val 6925"/>
            </a:avLst>
          </a:prstGeom>
          <a:solidFill>
            <a:srgbClr val="283168"/>
          </a:solidFill>
          <a:ln w="12700">
            <a:solidFill>
              <a:srgbClr val="283168"/>
            </a:solidFill>
            <a:prstDash val="solid"/>
          </a:ln>
          <a:effectLst>
            <a:outerShdw sx="100000" sy="100000" kx="0" ky="0" algn="bl" rotWithShape="0" blurRad="101600" dist="38100" dir="5400000">
              <a:srgbClr val="1A1F3A">
                <a:alpha val="25000"/>
              </a:srgbClr>
            </a:outerShdw>
          </a:effectLst>
        </p:spPr>
      </p:sp>
      <p:pic>
        <p:nvPicPr>
          <p:cNvPr id="7" name="Prototípus – ügyfél nézet" descr="C:\Users\PC\AppData\Local\Temp\claude\C--Users-PC-Desktop--gyf-l-Port-l-Foly-sz-mla-adatok\09416993-6b14-4442-8951-34001b20812d\scratchpad\deck\img\phone-status.jpg">    </p:cNvPr>
          <p:cNvPicPr>
            <a:picLocks noChangeAspect="1"/>
          </p:cNvPicPr>
          <p:nvPr/>
        </p:nvPicPr>
        <p:blipFill>
          <a:blip r:embed="rId1"/>
          <a:stretch>
            <a:fillRect/>
          </a:stretch>
        </p:blipFill>
        <p:spPr>
          <a:xfrm>
            <a:off x="6355080" y="411480"/>
            <a:ext cx="1984766" cy="4297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Kiinduló állapot</a:t>
            </a:r>
            <a:endParaRPr lang="en-US" sz="2600" dirty="0"/>
          </a:p>
        </p:txBody>
      </p:sp>
      <p:sp>
        <p:nvSpPr>
          <p:cNvPr id="3" name="Text 1"/>
          <p:cNvSpPr txBox="1"/>
          <p:nvPr/>
        </p:nvSpPr>
        <p:spPr>
          <a:xfrm>
            <a:off x="457200" y="868680"/>
            <a:ext cx="7680960" cy="320040"/>
          </a:xfrm>
          <a:prstGeom prst="rect">
            <a:avLst/>
          </a:prstGeom>
          <a:noFill/>
          <a:ln/>
        </p:spPr>
        <p:txBody>
          <a:bodyPr wrap="square" lIns="0" tIns="0" rIns="0" bIns="0" rtlCol="0" anchor="t"/>
          <a:lstStyle/>
          <a:p>
            <a:pPr indent="0" marL="0">
              <a:buNone/>
            </a:pPr>
            <a:r>
              <a:rPr lang="en-US" sz="1500" dirty="0">
                <a:solidFill>
                  <a:srgbClr val="4A545E"/>
                </a:solidFill>
                <a:latin typeface="Calibri" pitchFamily="34" charset="0"/>
                <a:ea typeface="Calibri" pitchFamily="34" charset="-122"/>
                <a:cs typeface="Calibri" pitchFamily="34" charset="-120"/>
              </a:rPr>
              <a:t>Egy rövid feladatleírásból és egy üres mappából indultunk.</a:t>
            </a:r>
            <a:endParaRPr lang="en-US" sz="1500" dirty="0"/>
          </a:p>
        </p:txBody>
      </p:sp>
      <p:sp>
        <p:nvSpPr>
          <p:cNvPr id="4" name="Feladat kártya"/>
          <p:cNvSpPr/>
          <p:nvPr/>
        </p:nvSpPr>
        <p:spPr>
          <a:xfrm>
            <a:off x="457200" y="1371600"/>
            <a:ext cx="3886200" cy="3154680"/>
          </a:xfrm>
          <a:prstGeom prst="roundRect">
            <a:avLst>
              <a:gd name="adj" fmla="val 3478"/>
            </a:avLst>
          </a:prstGeom>
          <a:solidFill>
            <a:srgbClr val="283168"/>
          </a:solidFill>
          <a:ln w="9525">
            <a:solidFill>
              <a:srgbClr val="283168"/>
            </a:solidFill>
            <a:prstDash val="solid"/>
          </a:ln>
          <a:effectLst>
            <a:outerShdw sx="100000" sy="100000" kx="0" ky="0" algn="bl" rotWithShape="0" blurRad="76200" dist="25400" dir="5400000">
              <a:srgbClr val="283168">
                <a:alpha val="8000"/>
              </a:srgbClr>
            </a:outerShdw>
          </a:effectLst>
        </p:spPr>
      </p:sp>
      <p:sp>
        <p:nvSpPr>
          <p:cNvPr id="5" name="Feladat kör"/>
          <p:cNvSpPr/>
          <p:nvPr/>
        </p:nvSpPr>
        <p:spPr>
          <a:xfrm>
            <a:off x="731520" y="1627632"/>
            <a:ext cx="502920" cy="502920"/>
          </a:xfrm>
          <a:prstGeom prst="ellipse">
            <a:avLst/>
          </a:prstGeom>
          <a:solidFill>
            <a:srgbClr val="45C396"/>
          </a:solidFill>
          <a:ln w="12700">
            <a:solidFill>
              <a:srgbClr val="45C396"/>
            </a:solidFill>
            <a:prstDash val="solid"/>
          </a:ln>
        </p:spPr>
      </p:sp>
      <p:pic>
        <p:nvPicPr>
          <p:cNvPr id="6" name="Feladat ikon" descr="preencoded.png">    </p:cNvPr>
          <p:cNvPicPr>
            <a:picLocks noChangeAspect="1"/>
          </p:cNvPicPr>
          <p:nvPr/>
        </p:nvPicPr>
        <p:blipFill>
          <a:blip r:embed="rId1"/>
          <a:stretch>
            <a:fillRect/>
          </a:stretch>
        </p:blipFill>
        <p:spPr>
          <a:xfrm>
            <a:off x="857250" y="1753362"/>
            <a:ext cx="251460" cy="251460"/>
          </a:xfrm>
          <a:prstGeom prst="rect">
            <a:avLst/>
          </a:prstGeom>
        </p:spPr>
      </p:pic>
      <p:sp>
        <p:nvSpPr>
          <p:cNvPr id="7" name="Text 4"/>
          <p:cNvSpPr txBox="1"/>
          <p:nvPr/>
        </p:nvSpPr>
        <p:spPr>
          <a:xfrm>
            <a:off x="1371600" y="1764792"/>
            <a:ext cx="2743200" cy="274320"/>
          </a:xfrm>
          <a:prstGeom prst="rect">
            <a:avLst/>
          </a:prstGeom>
          <a:noFill/>
          <a:ln/>
        </p:spPr>
        <p:txBody>
          <a:bodyPr wrap="square" lIns="0" tIns="0" rIns="0" bIns="0" rtlCol="0" anchor="t"/>
          <a:lstStyle/>
          <a:p>
            <a:pPr indent="0" marL="0">
              <a:buNone/>
            </a:pPr>
            <a:r>
              <a:rPr lang="en-US" sz="1200" b="1" spc="200" kern="0" dirty="0">
                <a:solidFill>
                  <a:srgbClr val="45C396"/>
                </a:solidFill>
                <a:latin typeface="Calibri" pitchFamily="34" charset="0"/>
                <a:ea typeface="Calibri" pitchFamily="34" charset="-122"/>
                <a:cs typeface="Calibri" pitchFamily="34" charset="-120"/>
              </a:rPr>
              <a:t>A FELADAT</a:t>
            </a:r>
            <a:endParaRPr lang="en-US" sz="1200" dirty="0"/>
          </a:p>
        </p:txBody>
      </p:sp>
      <p:sp>
        <p:nvSpPr>
          <p:cNvPr id="8" name="Text 5"/>
          <p:cNvSpPr txBox="1"/>
          <p:nvPr/>
        </p:nvSpPr>
        <p:spPr>
          <a:xfrm>
            <a:off x="731520" y="2331720"/>
            <a:ext cx="3383280" cy="1371600"/>
          </a:xfrm>
          <a:prstGeom prst="rect">
            <a:avLst/>
          </a:prstGeom>
          <a:noFill/>
          <a:ln/>
        </p:spPr>
        <p:txBody>
          <a:bodyPr wrap="square" lIns="0" tIns="0" rIns="0" bIns="0"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Kattintható prototípus, amely egy biztosítási szerződés folyószámláját mutatja: egy egyszerű nézet az ügyfélnek, egy részletes a callcenternek és a tanácsadóknak.</a:t>
            </a:r>
            <a:endParaRPr lang="en-US" sz="1500" dirty="0"/>
          </a:p>
        </p:txBody>
      </p:sp>
      <p:sp>
        <p:nvSpPr>
          <p:cNvPr id="9" name="Text 6"/>
          <p:cNvSpPr txBox="1"/>
          <p:nvPr/>
        </p:nvSpPr>
        <p:spPr>
          <a:xfrm>
            <a:off x="731520" y="3977640"/>
            <a:ext cx="3383280" cy="274320"/>
          </a:xfrm>
          <a:prstGeom prst="rect">
            <a:avLst/>
          </a:prstGeom>
          <a:noFill/>
          <a:ln/>
        </p:spPr>
        <p:txBody>
          <a:bodyPr wrap="square" lIns="0" tIns="0" rIns="0" bIns="0" rtlCol="0" anchor="t"/>
          <a:lstStyle/>
          <a:p>
            <a:pPr indent="0" marL="0">
              <a:buNone/>
            </a:pPr>
            <a:r>
              <a:rPr lang="en-US" sz="1200" dirty="0">
                <a:solidFill>
                  <a:srgbClr val="C9CEEA"/>
                </a:solidFill>
                <a:latin typeface="Calibri" pitchFamily="34" charset="0"/>
                <a:ea typeface="Calibri" pitchFamily="34" charset="-122"/>
                <a:cs typeface="Calibri" pitchFamily="34" charset="-120"/>
              </a:rPr>
              <a:t>Cél: felhasználói teszt és üzleti bemutató</a:t>
            </a:r>
            <a:endParaRPr lang="en-US" sz="1200" dirty="0"/>
          </a:p>
        </p:txBody>
      </p:sp>
      <p:sp>
        <p:nvSpPr>
          <p:cNvPr id="10" name="Ami megvolt kártya"/>
          <p:cNvSpPr/>
          <p:nvPr/>
        </p:nvSpPr>
        <p:spPr>
          <a:xfrm>
            <a:off x="4617720" y="1371600"/>
            <a:ext cx="1737360" cy="3154680"/>
          </a:xfrm>
          <a:prstGeom prst="roundRect">
            <a:avLst>
              <a:gd name="adj" fmla="val 6316"/>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1" name="Text 8"/>
          <p:cNvSpPr txBox="1"/>
          <p:nvPr/>
        </p:nvSpPr>
        <p:spPr>
          <a:xfrm>
            <a:off x="4800600" y="1536192"/>
            <a:ext cx="1463040" cy="274320"/>
          </a:xfrm>
          <a:prstGeom prst="rect">
            <a:avLst/>
          </a:prstGeom>
          <a:noFill/>
          <a:ln/>
        </p:spPr>
        <p:txBody>
          <a:bodyPr wrap="square" lIns="0" tIns="0" rIns="0" bIns="0" rtlCol="0" anchor="t"/>
          <a:lstStyle/>
          <a:p>
            <a:pPr indent="0" marL="0">
              <a:buNone/>
            </a:pPr>
            <a:r>
              <a:rPr lang="en-US" sz="1300" b="1" dirty="0">
                <a:solidFill>
                  <a:srgbClr val="283168"/>
                </a:solidFill>
                <a:latin typeface="Century Gothic" pitchFamily="34" charset="0"/>
                <a:ea typeface="Century Gothic" pitchFamily="34" charset="-122"/>
                <a:cs typeface="Century Gothic" pitchFamily="34" charset="-120"/>
              </a:rPr>
              <a:t>Ami megvolt</a:t>
            </a:r>
            <a:endParaRPr lang="en-US" sz="1300" dirty="0"/>
          </a:p>
        </p:txBody>
      </p:sp>
      <p:sp>
        <p:nvSpPr>
          <p:cNvPr id="12" name="Ami megvolt 1 kör"/>
          <p:cNvSpPr/>
          <p:nvPr/>
        </p:nvSpPr>
        <p:spPr>
          <a:xfrm>
            <a:off x="4782312" y="1965960"/>
            <a:ext cx="292608" cy="292608"/>
          </a:xfrm>
          <a:prstGeom prst="ellipse">
            <a:avLst/>
          </a:prstGeom>
          <a:solidFill>
            <a:srgbClr val="E6F7F1"/>
          </a:solidFill>
          <a:ln w="12700">
            <a:solidFill>
              <a:srgbClr val="E6F7F1"/>
            </a:solidFill>
            <a:prstDash val="solid"/>
          </a:ln>
        </p:spPr>
      </p:sp>
      <p:pic>
        <p:nvPicPr>
          <p:cNvPr id="13" name="Ami megvolt 1 ikon" descr="preencoded.png">    </p:cNvPr>
          <p:cNvPicPr>
            <a:picLocks noChangeAspect="1"/>
          </p:cNvPicPr>
          <p:nvPr/>
        </p:nvPicPr>
        <p:blipFill>
          <a:blip r:embed="rId2"/>
          <a:stretch>
            <a:fillRect/>
          </a:stretch>
        </p:blipFill>
        <p:spPr>
          <a:xfrm>
            <a:off x="4855464" y="2039112"/>
            <a:ext cx="146304" cy="146304"/>
          </a:xfrm>
          <a:prstGeom prst="rect">
            <a:avLst/>
          </a:prstGeom>
        </p:spPr>
      </p:pic>
      <p:sp>
        <p:nvSpPr>
          <p:cNvPr id="14" name="Text 10"/>
          <p:cNvSpPr txBox="1"/>
          <p:nvPr/>
        </p:nvSpPr>
        <p:spPr>
          <a:xfrm>
            <a:off x="5166360" y="1947672"/>
            <a:ext cx="1097280" cy="548640"/>
          </a:xfrm>
          <a:prstGeom prst="rect">
            <a:avLst/>
          </a:prstGeom>
          <a:noFill/>
          <a:ln/>
        </p:spPr>
        <p:txBody>
          <a:bodyPr wrap="square" lIns="0" tIns="0" rIns="0" bIns="0" rtlCol="0" anchor="t"/>
          <a:lstStyle/>
          <a:p>
            <a:pPr indent="0" marL="0">
              <a:buNone/>
            </a:pPr>
            <a:r>
              <a:rPr lang="en-US" sz="1200" dirty="0">
                <a:solidFill>
                  <a:srgbClr val="30373D"/>
                </a:solidFill>
                <a:latin typeface="Calibri" pitchFamily="34" charset="0"/>
                <a:ea typeface="Calibri" pitchFamily="34" charset="-122"/>
                <a:cs typeface="Calibri" pitchFamily="34" charset="-120"/>
              </a:rPr>
              <a:t>Az ötlet és a két célcsoport</a:t>
            </a:r>
            <a:endParaRPr lang="en-US" sz="1200" dirty="0"/>
          </a:p>
        </p:txBody>
      </p:sp>
      <p:sp>
        <p:nvSpPr>
          <p:cNvPr id="15" name="Ami megvolt 2 kör"/>
          <p:cNvSpPr/>
          <p:nvPr/>
        </p:nvSpPr>
        <p:spPr>
          <a:xfrm>
            <a:off x="4782312" y="2569464"/>
            <a:ext cx="292608" cy="292608"/>
          </a:xfrm>
          <a:prstGeom prst="ellipse">
            <a:avLst/>
          </a:prstGeom>
          <a:solidFill>
            <a:srgbClr val="E6F7F1"/>
          </a:solidFill>
          <a:ln w="12700">
            <a:solidFill>
              <a:srgbClr val="E6F7F1"/>
            </a:solidFill>
            <a:prstDash val="solid"/>
          </a:ln>
        </p:spPr>
      </p:sp>
      <p:pic>
        <p:nvPicPr>
          <p:cNvPr id="16" name="Ami megvolt 2 ikon" descr="preencoded.png">    </p:cNvPr>
          <p:cNvPicPr>
            <a:picLocks noChangeAspect="1"/>
          </p:cNvPicPr>
          <p:nvPr/>
        </p:nvPicPr>
        <p:blipFill>
          <a:blip r:embed="rId3"/>
          <a:stretch>
            <a:fillRect/>
          </a:stretch>
        </p:blipFill>
        <p:spPr>
          <a:xfrm>
            <a:off x="4855464" y="2642616"/>
            <a:ext cx="146304" cy="146304"/>
          </a:xfrm>
          <a:prstGeom prst="rect">
            <a:avLst/>
          </a:prstGeom>
        </p:spPr>
      </p:pic>
      <p:sp>
        <p:nvSpPr>
          <p:cNvPr id="17" name="Text 12"/>
          <p:cNvSpPr txBox="1"/>
          <p:nvPr/>
        </p:nvSpPr>
        <p:spPr>
          <a:xfrm>
            <a:off x="5166360" y="2551176"/>
            <a:ext cx="1097280" cy="548640"/>
          </a:xfrm>
          <a:prstGeom prst="rect">
            <a:avLst/>
          </a:prstGeom>
          <a:noFill/>
          <a:ln/>
        </p:spPr>
        <p:txBody>
          <a:bodyPr wrap="square" lIns="0" tIns="0" rIns="0" bIns="0" rtlCol="0" anchor="t"/>
          <a:lstStyle/>
          <a:p>
            <a:pPr indent="0" marL="0">
              <a:buNone/>
            </a:pPr>
            <a:r>
              <a:rPr lang="en-US" sz="1200" dirty="0">
                <a:solidFill>
                  <a:srgbClr val="30373D"/>
                </a:solidFill>
                <a:latin typeface="Calibri" pitchFamily="34" charset="0"/>
                <a:ea typeface="Calibri" pitchFamily="34" charset="-122"/>
                <a:cs typeface="Calibri" pitchFamily="34" charset="-120"/>
              </a:rPr>
              <a:t>Példák a tételtípusokra</a:t>
            </a:r>
            <a:endParaRPr lang="en-US" sz="1200" dirty="0"/>
          </a:p>
        </p:txBody>
      </p:sp>
      <p:sp>
        <p:nvSpPr>
          <p:cNvPr id="18" name="Ami megvolt 3 kör"/>
          <p:cNvSpPr/>
          <p:nvPr/>
        </p:nvSpPr>
        <p:spPr>
          <a:xfrm>
            <a:off x="4782312" y="3172968"/>
            <a:ext cx="292608" cy="292608"/>
          </a:xfrm>
          <a:prstGeom prst="ellipse">
            <a:avLst/>
          </a:prstGeom>
          <a:solidFill>
            <a:srgbClr val="E6F7F1"/>
          </a:solidFill>
          <a:ln w="12700">
            <a:solidFill>
              <a:srgbClr val="E6F7F1"/>
            </a:solidFill>
            <a:prstDash val="solid"/>
          </a:ln>
        </p:spPr>
      </p:sp>
      <p:pic>
        <p:nvPicPr>
          <p:cNvPr id="19" name="Ami megvolt 3 ikon" descr="preencoded.png">    </p:cNvPr>
          <p:cNvPicPr>
            <a:picLocks noChangeAspect="1"/>
          </p:cNvPicPr>
          <p:nvPr/>
        </p:nvPicPr>
        <p:blipFill>
          <a:blip r:embed="rId4"/>
          <a:stretch>
            <a:fillRect/>
          </a:stretch>
        </p:blipFill>
        <p:spPr>
          <a:xfrm>
            <a:off x="4855464" y="3246120"/>
            <a:ext cx="146304" cy="146304"/>
          </a:xfrm>
          <a:prstGeom prst="rect">
            <a:avLst/>
          </a:prstGeom>
        </p:spPr>
      </p:pic>
      <p:sp>
        <p:nvSpPr>
          <p:cNvPr id="20" name="Text 14"/>
          <p:cNvSpPr txBox="1"/>
          <p:nvPr/>
        </p:nvSpPr>
        <p:spPr>
          <a:xfrm>
            <a:off x="5166360" y="3154680"/>
            <a:ext cx="1097280" cy="548640"/>
          </a:xfrm>
          <a:prstGeom prst="rect">
            <a:avLst/>
          </a:prstGeom>
          <a:noFill/>
          <a:ln/>
        </p:spPr>
        <p:txBody>
          <a:bodyPr wrap="square" lIns="0" tIns="0" rIns="0" bIns="0" rtlCol="0" anchor="t"/>
          <a:lstStyle/>
          <a:p>
            <a:pPr indent="0" marL="0">
              <a:buNone/>
            </a:pPr>
            <a:r>
              <a:rPr lang="en-US" sz="1200" dirty="0">
                <a:solidFill>
                  <a:srgbClr val="30373D"/>
                </a:solidFill>
                <a:latin typeface="Calibri" pitchFamily="34" charset="0"/>
                <a:ea typeface="Calibri" pitchFamily="34" charset="-122"/>
                <a:cs typeface="Calibri" pitchFamily="34" charset="-120"/>
              </a:rPr>
              <a:t>Szakmai tudás a díjkérdésekről</a:t>
            </a:r>
            <a:endParaRPr lang="en-US" sz="1200" dirty="0"/>
          </a:p>
        </p:txBody>
      </p:sp>
      <p:sp>
        <p:nvSpPr>
          <p:cNvPr id="21" name="Ami hiányzott kártya"/>
          <p:cNvSpPr/>
          <p:nvPr/>
        </p:nvSpPr>
        <p:spPr>
          <a:xfrm>
            <a:off x="6492240" y="1371600"/>
            <a:ext cx="1737360" cy="3154680"/>
          </a:xfrm>
          <a:prstGeom prst="roundRect">
            <a:avLst>
              <a:gd name="adj" fmla="val 6316"/>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22" name="Text 16"/>
          <p:cNvSpPr txBox="1"/>
          <p:nvPr/>
        </p:nvSpPr>
        <p:spPr>
          <a:xfrm>
            <a:off x="6675120" y="1536192"/>
            <a:ext cx="1463040" cy="274320"/>
          </a:xfrm>
          <a:prstGeom prst="rect">
            <a:avLst/>
          </a:prstGeom>
          <a:noFill/>
          <a:ln/>
        </p:spPr>
        <p:txBody>
          <a:bodyPr wrap="square" lIns="0" tIns="0" rIns="0" bIns="0" rtlCol="0" anchor="t"/>
          <a:lstStyle/>
          <a:p>
            <a:pPr indent="0" marL="0">
              <a:buNone/>
            </a:pPr>
            <a:r>
              <a:rPr lang="en-US" sz="1300" b="1" dirty="0">
                <a:solidFill>
                  <a:srgbClr val="283168"/>
                </a:solidFill>
                <a:latin typeface="Century Gothic" pitchFamily="34" charset="0"/>
                <a:ea typeface="Century Gothic" pitchFamily="34" charset="-122"/>
                <a:cs typeface="Century Gothic" pitchFamily="34" charset="-120"/>
              </a:rPr>
              <a:t>Ami hiányzott</a:t>
            </a:r>
            <a:endParaRPr lang="en-US" sz="1300" dirty="0"/>
          </a:p>
        </p:txBody>
      </p:sp>
      <p:sp>
        <p:nvSpPr>
          <p:cNvPr id="23" name="Ami hiányzott 1 kör"/>
          <p:cNvSpPr/>
          <p:nvPr/>
        </p:nvSpPr>
        <p:spPr>
          <a:xfrm>
            <a:off x="6656832" y="1965960"/>
            <a:ext cx="292608" cy="292608"/>
          </a:xfrm>
          <a:prstGeom prst="ellipse">
            <a:avLst/>
          </a:prstGeom>
          <a:solidFill>
            <a:srgbClr val="FDECEA"/>
          </a:solidFill>
          <a:ln w="12700">
            <a:solidFill>
              <a:srgbClr val="FDECEA"/>
            </a:solidFill>
            <a:prstDash val="solid"/>
          </a:ln>
        </p:spPr>
      </p:sp>
      <p:pic>
        <p:nvPicPr>
          <p:cNvPr id="24" name="Ami hiányzott 1 ikon" descr="preencoded.png">    </p:cNvPr>
          <p:cNvPicPr>
            <a:picLocks noChangeAspect="1"/>
          </p:cNvPicPr>
          <p:nvPr/>
        </p:nvPicPr>
        <p:blipFill>
          <a:blip r:embed="rId5"/>
          <a:stretch>
            <a:fillRect/>
          </a:stretch>
        </p:blipFill>
        <p:spPr>
          <a:xfrm>
            <a:off x="6729984" y="2039112"/>
            <a:ext cx="146304" cy="146304"/>
          </a:xfrm>
          <a:prstGeom prst="rect">
            <a:avLst/>
          </a:prstGeom>
        </p:spPr>
      </p:pic>
      <p:sp>
        <p:nvSpPr>
          <p:cNvPr id="25" name="Text 18"/>
          <p:cNvSpPr txBox="1"/>
          <p:nvPr/>
        </p:nvSpPr>
        <p:spPr>
          <a:xfrm>
            <a:off x="7040880" y="1947672"/>
            <a:ext cx="1097280" cy="548640"/>
          </a:xfrm>
          <a:prstGeom prst="rect">
            <a:avLst/>
          </a:prstGeom>
          <a:noFill/>
          <a:ln/>
        </p:spPr>
        <p:txBody>
          <a:bodyPr wrap="square" lIns="0" tIns="0" rIns="0" bIns="0" rtlCol="0" anchor="t"/>
          <a:lstStyle/>
          <a:p>
            <a:pPr indent="0" marL="0">
              <a:buNone/>
            </a:pPr>
            <a:r>
              <a:rPr lang="en-US" sz="1200" dirty="0">
                <a:solidFill>
                  <a:srgbClr val="30373D"/>
                </a:solidFill>
                <a:latin typeface="Calibri" pitchFamily="34" charset="0"/>
                <a:ea typeface="Calibri" pitchFamily="34" charset="-122"/>
                <a:cs typeface="Calibri" pitchFamily="34" charset="-120"/>
              </a:rPr>
              <a:t>Képernyőtervek</a:t>
            </a:r>
            <a:endParaRPr lang="en-US" sz="1200" dirty="0"/>
          </a:p>
        </p:txBody>
      </p:sp>
      <p:sp>
        <p:nvSpPr>
          <p:cNvPr id="26" name="Ami hiányzott 2 kör"/>
          <p:cNvSpPr/>
          <p:nvPr/>
        </p:nvSpPr>
        <p:spPr>
          <a:xfrm>
            <a:off x="6656832" y="2569464"/>
            <a:ext cx="292608" cy="292608"/>
          </a:xfrm>
          <a:prstGeom prst="ellipse">
            <a:avLst/>
          </a:prstGeom>
          <a:solidFill>
            <a:srgbClr val="FDECEA"/>
          </a:solidFill>
          <a:ln w="12700">
            <a:solidFill>
              <a:srgbClr val="FDECEA"/>
            </a:solidFill>
            <a:prstDash val="solid"/>
          </a:ln>
        </p:spPr>
      </p:sp>
      <p:pic>
        <p:nvPicPr>
          <p:cNvPr id="27" name="Ami hiányzott 2 ikon" descr="preencoded.png">    </p:cNvPr>
          <p:cNvPicPr>
            <a:picLocks noChangeAspect="1"/>
          </p:cNvPicPr>
          <p:nvPr/>
        </p:nvPicPr>
        <p:blipFill>
          <a:blip r:embed="rId6"/>
          <a:stretch>
            <a:fillRect/>
          </a:stretch>
        </p:blipFill>
        <p:spPr>
          <a:xfrm>
            <a:off x="6729984" y="2642616"/>
            <a:ext cx="146304" cy="146304"/>
          </a:xfrm>
          <a:prstGeom prst="rect">
            <a:avLst/>
          </a:prstGeom>
        </p:spPr>
      </p:pic>
      <p:sp>
        <p:nvSpPr>
          <p:cNvPr id="28" name="Text 20"/>
          <p:cNvSpPr txBox="1"/>
          <p:nvPr/>
        </p:nvSpPr>
        <p:spPr>
          <a:xfrm>
            <a:off x="7040880" y="2551176"/>
            <a:ext cx="1097280" cy="548640"/>
          </a:xfrm>
          <a:prstGeom prst="rect">
            <a:avLst/>
          </a:prstGeom>
          <a:noFill/>
          <a:ln/>
        </p:spPr>
        <p:txBody>
          <a:bodyPr wrap="square" lIns="0" tIns="0" rIns="0" bIns="0" rtlCol="0" anchor="t"/>
          <a:lstStyle/>
          <a:p>
            <a:pPr indent="0" marL="0">
              <a:buNone/>
            </a:pPr>
            <a:r>
              <a:rPr lang="en-US" sz="1200" dirty="0">
                <a:solidFill>
                  <a:srgbClr val="30373D"/>
                </a:solidFill>
                <a:latin typeface="Calibri" pitchFamily="34" charset="0"/>
                <a:ea typeface="Calibri" pitchFamily="34" charset="-122"/>
                <a:cs typeface="Calibri" pitchFamily="34" charset="-120"/>
              </a:rPr>
              <a:t>Üzleti szabályok</a:t>
            </a:r>
            <a:endParaRPr lang="en-US" sz="1200" dirty="0"/>
          </a:p>
        </p:txBody>
      </p:sp>
      <p:sp>
        <p:nvSpPr>
          <p:cNvPr id="29" name="Ami hiányzott 3 kör"/>
          <p:cNvSpPr/>
          <p:nvPr/>
        </p:nvSpPr>
        <p:spPr>
          <a:xfrm>
            <a:off x="6656832" y="3172968"/>
            <a:ext cx="292608" cy="292608"/>
          </a:xfrm>
          <a:prstGeom prst="ellipse">
            <a:avLst/>
          </a:prstGeom>
          <a:solidFill>
            <a:srgbClr val="FDECEA"/>
          </a:solidFill>
          <a:ln w="12700">
            <a:solidFill>
              <a:srgbClr val="FDECEA"/>
            </a:solidFill>
            <a:prstDash val="solid"/>
          </a:ln>
        </p:spPr>
      </p:sp>
      <p:pic>
        <p:nvPicPr>
          <p:cNvPr id="30" name="Ami hiányzott 3 ikon" descr="preencoded.png">    </p:cNvPr>
          <p:cNvPicPr>
            <a:picLocks noChangeAspect="1"/>
          </p:cNvPicPr>
          <p:nvPr/>
        </p:nvPicPr>
        <p:blipFill>
          <a:blip r:embed="rId7"/>
          <a:stretch>
            <a:fillRect/>
          </a:stretch>
        </p:blipFill>
        <p:spPr>
          <a:xfrm>
            <a:off x="6729984" y="3246120"/>
            <a:ext cx="146304" cy="146304"/>
          </a:xfrm>
          <a:prstGeom prst="rect">
            <a:avLst/>
          </a:prstGeom>
        </p:spPr>
      </p:pic>
      <p:sp>
        <p:nvSpPr>
          <p:cNvPr id="31" name="Text 22"/>
          <p:cNvSpPr txBox="1"/>
          <p:nvPr/>
        </p:nvSpPr>
        <p:spPr>
          <a:xfrm>
            <a:off x="7040880" y="3154680"/>
            <a:ext cx="1097280" cy="548640"/>
          </a:xfrm>
          <a:prstGeom prst="rect">
            <a:avLst/>
          </a:prstGeom>
          <a:noFill/>
          <a:ln/>
        </p:spPr>
        <p:txBody>
          <a:bodyPr wrap="square" lIns="0" tIns="0" rIns="0" bIns="0" rtlCol="0" anchor="t"/>
          <a:lstStyle/>
          <a:p>
            <a:pPr indent="0" marL="0">
              <a:buNone/>
            </a:pPr>
            <a:r>
              <a:rPr lang="en-US" sz="1200" dirty="0">
                <a:solidFill>
                  <a:srgbClr val="30373D"/>
                </a:solidFill>
                <a:latin typeface="Calibri" pitchFamily="34" charset="0"/>
                <a:ea typeface="Calibri" pitchFamily="34" charset="-122"/>
                <a:cs typeface="Calibri" pitchFamily="34" charset="-120"/>
              </a:rPr>
              <a:t>Mintaadat</a:t>
            </a:r>
            <a:endParaRPr lang="en-US" sz="1200" dirty="0"/>
          </a:p>
        </p:txBody>
      </p:sp>
      <p:sp>
        <p:nvSpPr>
          <p:cNvPr id="32" name="Ami hiányzott 4 kör"/>
          <p:cNvSpPr/>
          <p:nvPr/>
        </p:nvSpPr>
        <p:spPr>
          <a:xfrm>
            <a:off x="6656832" y="3776472"/>
            <a:ext cx="292608" cy="292608"/>
          </a:xfrm>
          <a:prstGeom prst="ellipse">
            <a:avLst/>
          </a:prstGeom>
          <a:solidFill>
            <a:srgbClr val="FDECEA"/>
          </a:solidFill>
          <a:ln w="12700">
            <a:solidFill>
              <a:srgbClr val="FDECEA"/>
            </a:solidFill>
            <a:prstDash val="solid"/>
          </a:ln>
        </p:spPr>
      </p:sp>
      <p:pic>
        <p:nvPicPr>
          <p:cNvPr id="33" name="Ami hiányzott 4 ikon" descr="preencoded.png">    </p:cNvPr>
          <p:cNvPicPr>
            <a:picLocks noChangeAspect="1"/>
          </p:cNvPicPr>
          <p:nvPr/>
        </p:nvPicPr>
        <p:blipFill>
          <a:blip r:embed="rId8"/>
          <a:stretch>
            <a:fillRect/>
          </a:stretch>
        </p:blipFill>
        <p:spPr>
          <a:xfrm>
            <a:off x="6729984" y="3849624"/>
            <a:ext cx="146304" cy="146304"/>
          </a:xfrm>
          <a:prstGeom prst="rect">
            <a:avLst/>
          </a:prstGeom>
        </p:spPr>
      </p:pic>
      <p:sp>
        <p:nvSpPr>
          <p:cNvPr id="34" name="Text 24"/>
          <p:cNvSpPr txBox="1"/>
          <p:nvPr/>
        </p:nvSpPr>
        <p:spPr>
          <a:xfrm>
            <a:off x="7040880" y="3758184"/>
            <a:ext cx="1097280" cy="548640"/>
          </a:xfrm>
          <a:prstGeom prst="rect">
            <a:avLst/>
          </a:prstGeom>
          <a:noFill/>
          <a:ln/>
        </p:spPr>
        <p:txBody>
          <a:bodyPr wrap="square" lIns="0" tIns="0" rIns="0" bIns="0" rtlCol="0" anchor="t"/>
          <a:lstStyle/>
          <a:p>
            <a:pPr indent="0" marL="0">
              <a:buNone/>
            </a:pPr>
            <a:r>
              <a:rPr lang="en-US" sz="1200" dirty="0">
                <a:solidFill>
                  <a:srgbClr val="30373D"/>
                </a:solidFill>
                <a:latin typeface="Calibri" pitchFamily="34" charset="0"/>
                <a:ea typeface="Calibri" pitchFamily="34" charset="-122"/>
                <a:cs typeface="Calibri" pitchFamily="34" charset="-120"/>
              </a:rPr>
              <a:t>Fejlesztői környezet a gépen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A kísérleti projekt: Ügyfél Portál – Díjadatok</a:t>
            </a:r>
            <a:endParaRPr lang="en-US" sz="2600" dirty="0"/>
          </a:p>
        </p:txBody>
      </p:sp>
      <p:sp>
        <p:nvSpPr>
          <p:cNvPr id="3" name="Text 1"/>
          <p:cNvSpPr txBox="1"/>
          <p:nvPr/>
        </p:nvSpPr>
        <p:spPr>
          <a:xfrm>
            <a:off x="457200" y="868680"/>
            <a:ext cx="7680960" cy="320040"/>
          </a:xfrm>
          <a:prstGeom prst="rect">
            <a:avLst/>
          </a:prstGeom>
          <a:noFill/>
          <a:ln/>
        </p:spPr>
        <p:txBody>
          <a:bodyPr wrap="square" lIns="0" tIns="0" rIns="0" bIns="0" rtlCol="0" anchor="t"/>
          <a:lstStyle/>
          <a:p>
            <a:pPr indent="0" marL="0">
              <a:buNone/>
            </a:pPr>
            <a:r>
              <a:rPr lang="en-US" sz="1500" dirty="0">
                <a:solidFill>
                  <a:srgbClr val="4A545E"/>
                </a:solidFill>
                <a:latin typeface="Calibri" pitchFamily="34" charset="0"/>
                <a:ea typeface="Calibri" pitchFamily="34" charset="-122"/>
                <a:cs typeface="Calibri" pitchFamily="34" charset="-120"/>
              </a:rPr>
              <a:t>Egy szerződés díjadatai egy helyen – két különböző felhasználónak.</a:t>
            </a:r>
            <a:endParaRPr lang="en-US" sz="1500" dirty="0"/>
          </a:p>
        </p:txBody>
      </p:sp>
      <p:sp>
        <p:nvSpPr>
          <p:cNvPr id="4" name="Befizetések, kifizetések csempe"/>
          <p:cNvSpPr/>
          <p:nvPr/>
        </p:nvSpPr>
        <p:spPr>
          <a:xfrm>
            <a:off x="457200" y="1325880"/>
            <a:ext cx="1828800" cy="1005840"/>
          </a:xfrm>
          <a:prstGeom prst="roundRect">
            <a:avLst>
              <a:gd name="adj" fmla="val 10909"/>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5" name="Befizetések, kifizetések kör"/>
          <p:cNvSpPr/>
          <p:nvPr/>
        </p:nvSpPr>
        <p:spPr>
          <a:xfrm>
            <a:off x="621792" y="1481328"/>
            <a:ext cx="384048" cy="384048"/>
          </a:xfrm>
          <a:prstGeom prst="ellipse">
            <a:avLst/>
          </a:prstGeom>
          <a:solidFill>
            <a:srgbClr val="F3F3F9"/>
          </a:solidFill>
          <a:ln w="12700">
            <a:solidFill>
              <a:srgbClr val="F3F3F9"/>
            </a:solidFill>
            <a:prstDash val="solid"/>
          </a:ln>
        </p:spPr>
      </p:sp>
      <p:pic>
        <p:nvPicPr>
          <p:cNvPr id="6" name="Befizetések, kifizetések ikon" descr="preencoded.png">    </p:cNvPr>
          <p:cNvPicPr>
            <a:picLocks noChangeAspect="1"/>
          </p:cNvPicPr>
          <p:nvPr/>
        </p:nvPicPr>
        <p:blipFill>
          <a:blip r:embed="rId1"/>
          <a:stretch>
            <a:fillRect/>
          </a:stretch>
        </p:blipFill>
        <p:spPr>
          <a:xfrm>
            <a:off x="717804" y="1577340"/>
            <a:ext cx="192024" cy="192024"/>
          </a:xfrm>
          <a:prstGeom prst="rect">
            <a:avLst/>
          </a:prstGeom>
        </p:spPr>
      </p:pic>
      <p:sp>
        <p:nvSpPr>
          <p:cNvPr id="7" name="Text 4"/>
          <p:cNvSpPr txBox="1"/>
          <p:nvPr/>
        </p:nvSpPr>
        <p:spPr>
          <a:xfrm>
            <a:off x="1097280" y="1481328"/>
            <a:ext cx="1078992" cy="457200"/>
          </a:xfrm>
          <a:prstGeom prst="rect">
            <a:avLst/>
          </a:prstGeom>
          <a:noFill/>
          <a:ln/>
        </p:spPr>
        <p:txBody>
          <a:bodyPr wrap="square" lIns="0" tIns="0" rIns="0" bIns="0" rtlCol="0" anchor="ctr"/>
          <a:lstStyle/>
          <a:p>
            <a:pPr indent="0" marL="0">
              <a:buNone/>
            </a:pPr>
            <a:r>
              <a:rPr lang="en-US" sz="1300" b="1" dirty="0">
                <a:solidFill>
                  <a:srgbClr val="283168"/>
                </a:solidFill>
                <a:latin typeface="Calibri" pitchFamily="34" charset="0"/>
                <a:ea typeface="Calibri" pitchFamily="34" charset="-122"/>
                <a:cs typeface="Calibri" pitchFamily="34" charset="-120"/>
              </a:rPr>
              <a:t>Befizetések, kifizetések</a:t>
            </a:r>
            <a:endParaRPr lang="en-US" sz="1300" dirty="0"/>
          </a:p>
        </p:txBody>
      </p:sp>
      <p:sp>
        <p:nvSpPr>
          <p:cNvPr id="8" name="Díjelőírások csempe"/>
          <p:cNvSpPr/>
          <p:nvPr/>
        </p:nvSpPr>
        <p:spPr>
          <a:xfrm>
            <a:off x="2407615" y="1325880"/>
            <a:ext cx="1828800" cy="1005840"/>
          </a:xfrm>
          <a:prstGeom prst="roundRect">
            <a:avLst>
              <a:gd name="adj" fmla="val 10909"/>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9" name="Díjelőírások kör"/>
          <p:cNvSpPr/>
          <p:nvPr/>
        </p:nvSpPr>
        <p:spPr>
          <a:xfrm>
            <a:off x="2572207" y="1481328"/>
            <a:ext cx="384048" cy="384048"/>
          </a:xfrm>
          <a:prstGeom prst="ellipse">
            <a:avLst/>
          </a:prstGeom>
          <a:solidFill>
            <a:srgbClr val="F3F3F9"/>
          </a:solidFill>
          <a:ln w="12700">
            <a:solidFill>
              <a:srgbClr val="F3F3F9"/>
            </a:solidFill>
            <a:prstDash val="solid"/>
          </a:ln>
        </p:spPr>
      </p:sp>
      <p:pic>
        <p:nvPicPr>
          <p:cNvPr id="10" name="Díjelőírások ikon" descr="preencoded.png">    </p:cNvPr>
          <p:cNvPicPr>
            <a:picLocks noChangeAspect="1"/>
          </p:cNvPicPr>
          <p:nvPr/>
        </p:nvPicPr>
        <p:blipFill>
          <a:blip r:embed="rId2"/>
          <a:stretch>
            <a:fillRect/>
          </a:stretch>
        </p:blipFill>
        <p:spPr>
          <a:xfrm>
            <a:off x="2668219" y="1577340"/>
            <a:ext cx="192024" cy="192024"/>
          </a:xfrm>
          <a:prstGeom prst="rect">
            <a:avLst/>
          </a:prstGeom>
        </p:spPr>
      </p:pic>
      <p:sp>
        <p:nvSpPr>
          <p:cNvPr id="11" name="Text 7"/>
          <p:cNvSpPr txBox="1"/>
          <p:nvPr/>
        </p:nvSpPr>
        <p:spPr>
          <a:xfrm>
            <a:off x="3047695" y="1481328"/>
            <a:ext cx="1078992" cy="457200"/>
          </a:xfrm>
          <a:prstGeom prst="rect">
            <a:avLst/>
          </a:prstGeom>
          <a:noFill/>
          <a:ln/>
        </p:spPr>
        <p:txBody>
          <a:bodyPr wrap="square" lIns="0" tIns="0" rIns="0" bIns="0" rtlCol="0" anchor="ctr"/>
          <a:lstStyle/>
          <a:p>
            <a:pPr indent="0" marL="0">
              <a:buNone/>
            </a:pPr>
            <a:r>
              <a:rPr lang="en-US" sz="1300" b="1" dirty="0">
                <a:solidFill>
                  <a:srgbClr val="283168"/>
                </a:solidFill>
                <a:latin typeface="Calibri" pitchFamily="34" charset="0"/>
                <a:ea typeface="Calibri" pitchFamily="34" charset="-122"/>
                <a:cs typeface="Calibri" pitchFamily="34" charset="-120"/>
              </a:rPr>
              <a:t>Díjelőírások</a:t>
            </a:r>
            <a:endParaRPr lang="en-US" sz="1300" dirty="0"/>
          </a:p>
        </p:txBody>
      </p:sp>
      <p:sp>
        <p:nvSpPr>
          <p:cNvPr id="12" name="Díjhátralék csempe"/>
          <p:cNvSpPr/>
          <p:nvPr/>
        </p:nvSpPr>
        <p:spPr>
          <a:xfrm>
            <a:off x="4358030" y="1325880"/>
            <a:ext cx="1828800" cy="1005840"/>
          </a:xfrm>
          <a:prstGeom prst="roundRect">
            <a:avLst>
              <a:gd name="adj" fmla="val 10909"/>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3" name="Díjhátralék kör"/>
          <p:cNvSpPr/>
          <p:nvPr/>
        </p:nvSpPr>
        <p:spPr>
          <a:xfrm>
            <a:off x="4522622" y="1481328"/>
            <a:ext cx="384048" cy="384048"/>
          </a:xfrm>
          <a:prstGeom prst="ellipse">
            <a:avLst/>
          </a:prstGeom>
          <a:solidFill>
            <a:srgbClr val="F3F3F9"/>
          </a:solidFill>
          <a:ln w="12700">
            <a:solidFill>
              <a:srgbClr val="F3F3F9"/>
            </a:solidFill>
            <a:prstDash val="solid"/>
          </a:ln>
        </p:spPr>
      </p:sp>
      <p:pic>
        <p:nvPicPr>
          <p:cNvPr id="14" name="Díjhátralék ikon" descr="preencoded.png">    </p:cNvPr>
          <p:cNvPicPr>
            <a:picLocks noChangeAspect="1"/>
          </p:cNvPicPr>
          <p:nvPr/>
        </p:nvPicPr>
        <p:blipFill>
          <a:blip r:embed="rId3"/>
          <a:stretch>
            <a:fillRect/>
          </a:stretch>
        </p:blipFill>
        <p:spPr>
          <a:xfrm>
            <a:off x="4618634" y="1577340"/>
            <a:ext cx="192024" cy="192024"/>
          </a:xfrm>
          <a:prstGeom prst="rect">
            <a:avLst/>
          </a:prstGeom>
        </p:spPr>
      </p:pic>
      <p:sp>
        <p:nvSpPr>
          <p:cNvPr id="15" name="Text 10"/>
          <p:cNvSpPr txBox="1"/>
          <p:nvPr/>
        </p:nvSpPr>
        <p:spPr>
          <a:xfrm>
            <a:off x="4998110" y="1481328"/>
            <a:ext cx="1078992" cy="457200"/>
          </a:xfrm>
          <a:prstGeom prst="rect">
            <a:avLst/>
          </a:prstGeom>
          <a:noFill/>
          <a:ln/>
        </p:spPr>
        <p:txBody>
          <a:bodyPr wrap="square" lIns="0" tIns="0" rIns="0" bIns="0" rtlCol="0" anchor="ctr"/>
          <a:lstStyle/>
          <a:p>
            <a:pPr indent="0" marL="0">
              <a:buNone/>
            </a:pPr>
            <a:r>
              <a:rPr lang="en-US" sz="1300" b="1" dirty="0">
                <a:solidFill>
                  <a:srgbClr val="283168"/>
                </a:solidFill>
                <a:latin typeface="Calibri" pitchFamily="34" charset="0"/>
                <a:ea typeface="Calibri" pitchFamily="34" charset="-122"/>
                <a:cs typeface="Calibri" pitchFamily="34" charset="-120"/>
              </a:rPr>
              <a:t>Díjhátralék</a:t>
            </a:r>
            <a:endParaRPr lang="en-US" sz="1300" dirty="0"/>
          </a:p>
        </p:txBody>
      </p:sp>
      <p:sp>
        <p:nvSpPr>
          <p:cNvPr id="16" name="Speciális könyvelések csempe"/>
          <p:cNvSpPr/>
          <p:nvPr/>
        </p:nvSpPr>
        <p:spPr>
          <a:xfrm>
            <a:off x="6308446" y="1325880"/>
            <a:ext cx="1828800" cy="1005840"/>
          </a:xfrm>
          <a:prstGeom prst="roundRect">
            <a:avLst>
              <a:gd name="adj" fmla="val 10909"/>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7" name="Speciális könyvelések kör"/>
          <p:cNvSpPr/>
          <p:nvPr/>
        </p:nvSpPr>
        <p:spPr>
          <a:xfrm>
            <a:off x="6473038" y="1481328"/>
            <a:ext cx="384048" cy="384048"/>
          </a:xfrm>
          <a:prstGeom prst="ellipse">
            <a:avLst/>
          </a:prstGeom>
          <a:solidFill>
            <a:srgbClr val="F3F3F9"/>
          </a:solidFill>
          <a:ln w="12700">
            <a:solidFill>
              <a:srgbClr val="F3F3F9"/>
            </a:solidFill>
            <a:prstDash val="solid"/>
          </a:ln>
        </p:spPr>
      </p:sp>
      <p:pic>
        <p:nvPicPr>
          <p:cNvPr id="18" name="Speciális könyvelések ikon" descr="preencoded.png">    </p:cNvPr>
          <p:cNvPicPr>
            <a:picLocks noChangeAspect="1"/>
          </p:cNvPicPr>
          <p:nvPr/>
        </p:nvPicPr>
        <p:blipFill>
          <a:blip r:embed="rId4"/>
          <a:stretch>
            <a:fillRect/>
          </a:stretch>
        </p:blipFill>
        <p:spPr>
          <a:xfrm>
            <a:off x="6569050" y="1577340"/>
            <a:ext cx="192024" cy="192024"/>
          </a:xfrm>
          <a:prstGeom prst="rect">
            <a:avLst/>
          </a:prstGeom>
        </p:spPr>
      </p:pic>
      <p:sp>
        <p:nvSpPr>
          <p:cNvPr id="19" name="Text 13"/>
          <p:cNvSpPr txBox="1"/>
          <p:nvPr/>
        </p:nvSpPr>
        <p:spPr>
          <a:xfrm>
            <a:off x="6948526" y="1481328"/>
            <a:ext cx="1078992" cy="457200"/>
          </a:xfrm>
          <a:prstGeom prst="rect">
            <a:avLst/>
          </a:prstGeom>
          <a:noFill/>
          <a:ln/>
        </p:spPr>
        <p:txBody>
          <a:bodyPr wrap="square" lIns="0" tIns="0" rIns="0" bIns="0" rtlCol="0" anchor="ctr"/>
          <a:lstStyle/>
          <a:p>
            <a:pPr indent="0" marL="0">
              <a:buNone/>
            </a:pPr>
            <a:r>
              <a:rPr lang="en-US" sz="1300" b="1" dirty="0">
                <a:solidFill>
                  <a:srgbClr val="283168"/>
                </a:solidFill>
                <a:latin typeface="Calibri" pitchFamily="34" charset="0"/>
                <a:ea typeface="Calibri" pitchFamily="34" charset="-122"/>
                <a:cs typeface="Calibri" pitchFamily="34" charset="-120"/>
              </a:rPr>
              <a:t>Speciális könyvelések</a:t>
            </a:r>
            <a:endParaRPr lang="en-US" sz="1300" dirty="0"/>
          </a:p>
        </p:txBody>
      </p:sp>
      <p:sp>
        <p:nvSpPr>
          <p:cNvPr id="20" name="Text 14"/>
          <p:cNvSpPr txBox="1"/>
          <p:nvPr/>
        </p:nvSpPr>
        <p:spPr>
          <a:xfrm>
            <a:off x="6473038" y="1965960"/>
            <a:ext cx="1554480" cy="274320"/>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pl. átkönyvelés, kárból díjra</a:t>
            </a:r>
            <a:endParaRPr lang="en-US" sz="1100" dirty="0"/>
          </a:p>
        </p:txBody>
      </p:sp>
      <p:sp>
        <p:nvSpPr>
          <p:cNvPr id="21" name="Ügyfél nézet kártya"/>
          <p:cNvSpPr/>
          <p:nvPr/>
        </p:nvSpPr>
        <p:spPr>
          <a:xfrm>
            <a:off x="457200" y="2560320"/>
            <a:ext cx="3749040" cy="1783080"/>
          </a:xfrm>
          <a:prstGeom prst="roundRect">
            <a:avLst>
              <a:gd name="adj" fmla="val 6154"/>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22" name="Ügyfél nézet kör"/>
          <p:cNvSpPr/>
          <p:nvPr/>
        </p:nvSpPr>
        <p:spPr>
          <a:xfrm>
            <a:off x="685800" y="2761488"/>
            <a:ext cx="502920" cy="502920"/>
          </a:xfrm>
          <a:prstGeom prst="ellipse">
            <a:avLst/>
          </a:prstGeom>
          <a:solidFill>
            <a:srgbClr val="45C396"/>
          </a:solidFill>
          <a:ln w="12700">
            <a:solidFill>
              <a:srgbClr val="45C396"/>
            </a:solidFill>
            <a:prstDash val="solid"/>
          </a:ln>
        </p:spPr>
      </p:sp>
      <p:pic>
        <p:nvPicPr>
          <p:cNvPr id="23" name="Ügyfél nézet ikon" descr="preencoded.png">    </p:cNvPr>
          <p:cNvPicPr>
            <a:picLocks noChangeAspect="1"/>
          </p:cNvPicPr>
          <p:nvPr/>
        </p:nvPicPr>
        <p:blipFill>
          <a:blip r:embed="rId5"/>
          <a:stretch>
            <a:fillRect/>
          </a:stretch>
        </p:blipFill>
        <p:spPr>
          <a:xfrm>
            <a:off x="811530" y="2887218"/>
            <a:ext cx="251460" cy="251460"/>
          </a:xfrm>
          <a:prstGeom prst="rect">
            <a:avLst/>
          </a:prstGeom>
        </p:spPr>
      </p:pic>
      <p:sp>
        <p:nvSpPr>
          <p:cNvPr id="24" name="Text 17"/>
          <p:cNvSpPr txBox="1"/>
          <p:nvPr/>
        </p:nvSpPr>
        <p:spPr>
          <a:xfrm>
            <a:off x="1325880" y="2743200"/>
            <a:ext cx="2743200" cy="292608"/>
          </a:xfrm>
          <a:prstGeom prst="rect">
            <a:avLst/>
          </a:prstGeom>
          <a:noFill/>
          <a:ln/>
        </p:spPr>
        <p:txBody>
          <a:bodyPr wrap="square" lIns="0" tIns="0" rIns="0" bIns="0" rtlCol="0" anchor="t"/>
          <a:lstStyle/>
          <a:p>
            <a:pPr indent="0" marL="0">
              <a:buNone/>
            </a:pPr>
            <a:r>
              <a:rPr lang="en-US" sz="1400" b="1" dirty="0">
                <a:solidFill>
                  <a:srgbClr val="283168"/>
                </a:solidFill>
                <a:latin typeface="Century Gothic" pitchFamily="34" charset="0"/>
                <a:ea typeface="Century Gothic" pitchFamily="34" charset="-122"/>
                <a:cs typeface="Century Gothic" pitchFamily="34" charset="-120"/>
              </a:rPr>
              <a:t>Ügyfél nézet</a:t>
            </a:r>
            <a:endParaRPr lang="en-US" sz="1400" dirty="0"/>
          </a:p>
        </p:txBody>
      </p:sp>
      <p:sp>
        <p:nvSpPr>
          <p:cNvPr id="25" name="Text 18"/>
          <p:cNvSpPr txBox="1"/>
          <p:nvPr/>
        </p:nvSpPr>
        <p:spPr>
          <a:xfrm>
            <a:off x="1325880" y="3035808"/>
            <a:ext cx="2743200" cy="274320"/>
          </a:xfrm>
          <a:prstGeom prst="rect">
            <a:avLst/>
          </a:prstGeom>
          <a:noFill/>
          <a:ln/>
        </p:spPr>
        <p:txBody>
          <a:bodyPr wrap="square" lIns="0" tIns="0" rIns="0" bIns="0" rtlCol="0" anchor="t"/>
          <a:lstStyle/>
          <a:p>
            <a:pPr indent="0" marL="0">
              <a:buNone/>
            </a:pPr>
            <a:r>
              <a:rPr lang="en-US" sz="1300" i="1" dirty="0">
                <a:solidFill>
                  <a:srgbClr val="00875F"/>
                </a:solidFill>
                <a:latin typeface="Calibri" pitchFamily="34" charset="0"/>
                <a:ea typeface="Calibri" pitchFamily="34" charset="-122"/>
                <a:cs typeface="Calibri" pitchFamily="34" charset="-120"/>
              </a:rPr>
              <a:t>„Rendben vagyok?”</a:t>
            </a:r>
            <a:endParaRPr lang="en-US" sz="1300" dirty="0"/>
          </a:p>
        </p:txBody>
      </p:sp>
      <p:sp>
        <p:nvSpPr>
          <p:cNvPr id="26" name="Text 19"/>
          <p:cNvSpPr txBox="1"/>
          <p:nvPr/>
        </p:nvSpPr>
        <p:spPr>
          <a:xfrm>
            <a:off x="685800" y="3474720"/>
            <a:ext cx="3337560" cy="731520"/>
          </a:xfrm>
          <a:prstGeom prst="rect">
            <a:avLst/>
          </a:prstGeom>
          <a:noFill/>
          <a:ln/>
        </p:spPr>
        <p:txBody>
          <a:bodyPr wrap="square" lIns="0" tIns="0" rIns="0" bIns="0" rtlCol="0" anchor="t"/>
          <a:lstStyle/>
          <a:p>
            <a:pPr indent="0" marL="0">
              <a:buNone/>
            </a:pPr>
            <a:r>
              <a:rPr lang="en-US" sz="1300" dirty="0">
                <a:solidFill>
                  <a:srgbClr val="30373D"/>
                </a:solidFill>
                <a:latin typeface="Calibri" pitchFamily="34" charset="0"/>
                <a:ea typeface="Calibri" pitchFamily="34" charset="-122"/>
                <a:cs typeface="Calibri" pitchFamily="34" charset="-120"/>
              </a:rPr>
              <a:t>Egy állapotsor, egy idővonal, kattintásra köznyelvi magyarázat. Technikai részletek nélkül.</a:t>
            </a:r>
            <a:endParaRPr lang="en-US" sz="1300" dirty="0"/>
          </a:p>
        </p:txBody>
      </p:sp>
      <p:sp>
        <p:nvSpPr>
          <p:cNvPr id="27" name="Ügyintézői nézet kártya"/>
          <p:cNvSpPr/>
          <p:nvPr/>
        </p:nvSpPr>
        <p:spPr>
          <a:xfrm>
            <a:off x="4389120" y="2560320"/>
            <a:ext cx="3749040" cy="1783080"/>
          </a:xfrm>
          <a:prstGeom prst="roundRect">
            <a:avLst>
              <a:gd name="adj" fmla="val 6154"/>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28" name="Ügyintézői nézet kör"/>
          <p:cNvSpPr/>
          <p:nvPr/>
        </p:nvSpPr>
        <p:spPr>
          <a:xfrm>
            <a:off x="4617720" y="2761488"/>
            <a:ext cx="502920" cy="502920"/>
          </a:xfrm>
          <a:prstGeom prst="ellipse">
            <a:avLst/>
          </a:prstGeom>
          <a:solidFill>
            <a:srgbClr val="283168"/>
          </a:solidFill>
          <a:ln w="12700">
            <a:solidFill>
              <a:srgbClr val="283168"/>
            </a:solidFill>
            <a:prstDash val="solid"/>
          </a:ln>
        </p:spPr>
      </p:sp>
      <p:pic>
        <p:nvPicPr>
          <p:cNvPr id="29" name="Ügyintézői nézet ikon" descr="preencoded.png">    </p:cNvPr>
          <p:cNvPicPr>
            <a:picLocks noChangeAspect="1"/>
          </p:cNvPicPr>
          <p:nvPr/>
        </p:nvPicPr>
        <p:blipFill>
          <a:blip r:embed="rId6"/>
          <a:stretch>
            <a:fillRect/>
          </a:stretch>
        </p:blipFill>
        <p:spPr>
          <a:xfrm>
            <a:off x="4743450" y="2887218"/>
            <a:ext cx="251460" cy="251460"/>
          </a:xfrm>
          <a:prstGeom prst="rect">
            <a:avLst/>
          </a:prstGeom>
        </p:spPr>
      </p:pic>
      <p:sp>
        <p:nvSpPr>
          <p:cNvPr id="30" name="Text 22"/>
          <p:cNvSpPr txBox="1"/>
          <p:nvPr/>
        </p:nvSpPr>
        <p:spPr>
          <a:xfrm>
            <a:off x="5257800" y="2743200"/>
            <a:ext cx="2743200" cy="292608"/>
          </a:xfrm>
          <a:prstGeom prst="rect">
            <a:avLst/>
          </a:prstGeom>
          <a:noFill/>
          <a:ln/>
        </p:spPr>
        <p:txBody>
          <a:bodyPr wrap="square" lIns="0" tIns="0" rIns="0" bIns="0" rtlCol="0" anchor="t"/>
          <a:lstStyle/>
          <a:p>
            <a:pPr indent="0" marL="0">
              <a:buNone/>
            </a:pPr>
            <a:r>
              <a:rPr lang="en-US" sz="1400" b="1" dirty="0">
                <a:solidFill>
                  <a:srgbClr val="283168"/>
                </a:solidFill>
                <a:latin typeface="Century Gothic" pitchFamily="34" charset="0"/>
                <a:ea typeface="Century Gothic" pitchFamily="34" charset="-122"/>
                <a:cs typeface="Century Gothic" pitchFamily="34" charset="-120"/>
              </a:rPr>
              <a:t>Ügyintézői nézet</a:t>
            </a:r>
            <a:endParaRPr lang="en-US" sz="1400" dirty="0"/>
          </a:p>
        </p:txBody>
      </p:sp>
      <p:sp>
        <p:nvSpPr>
          <p:cNvPr id="31" name="Text 23"/>
          <p:cNvSpPr txBox="1"/>
          <p:nvPr/>
        </p:nvSpPr>
        <p:spPr>
          <a:xfrm>
            <a:off x="5257800" y="3035808"/>
            <a:ext cx="2743200" cy="274320"/>
          </a:xfrm>
          <a:prstGeom prst="rect">
            <a:avLst/>
          </a:prstGeom>
          <a:noFill/>
          <a:ln/>
        </p:spPr>
        <p:txBody>
          <a:bodyPr wrap="square" lIns="0" tIns="0" rIns="0" bIns="0" rtlCol="0" anchor="t"/>
          <a:lstStyle/>
          <a:p>
            <a:pPr indent="0" marL="0">
              <a:buNone/>
            </a:pPr>
            <a:r>
              <a:rPr lang="en-US" sz="1300" i="1" dirty="0">
                <a:solidFill>
                  <a:srgbClr val="00875F"/>
                </a:solidFill>
                <a:latin typeface="Calibri" pitchFamily="34" charset="0"/>
                <a:ea typeface="Calibri" pitchFamily="34" charset="-122"/>
                <a:cs typeface="Calibri" pitchFamily="34" charset="-120"/>
              </a:rPr>
              <a:t>„Mit kérdez az ügyfél?”</a:t>
            </a:r>
            <a:endParaRPr lang="en-US" sz="1300" dirty="0"/>
          </a:p>
        </p:txBody>
      </p:sp>
      <p:sp>
        <p:nvSpPr>
          <p:cNvPr id="32" name="Text 24"/>
          <p:cNvSpPr txBox="1"/>
          <p:nvPr/>
        </p:nvSpPr>
        <p:spPr>
          <a:xfrm>
            <a:off x="4617720" y="3474720"/>
            <a:ext cx="3337560" cy="731520"/>
          </a:xfrm>
          <a:prstGeom prst="rect">
            <a:avLst/>
          </a:prstGeom>
          <a:noFill/>
          <a:ln/>
        </p:spPr>
        <p:txBody>
          <a:bodyPr wrap="square" lIns="0" tIns="0" rIns="0" bIns="0" rtlCol="0" anchor="t"/>
          <a:lstStyle/>
          <a:p>
            <a:pPr indent="0" marL="0">
              <a:buNone/>
            </a:pPr>
            <a:r>
              <a:rPr lang="en-US" sz="1300" dirty="0">
                <a:solidFill>
                  <a:srgbClr val="30373D"/>
                </a:solidFill>
                <a:latin typeface="Calibri" pitchFamily="34" charset="0"/>
                <a:ea typeface="Calibri" pitchFamily="34" charset="-122"/>
                <a:cs typeface="Calibri" pitchFamily="34" charset="-120"/>
              </a:rPr>
              <a:t>CC és tanácsadók: a gyakori díjkérdések egy helyen – kerekítés, kódok, párosítás, storno.</a:t>
            </a:r>
            <a:endParaRPr lang="en-US" sz="1300" dirty="0"/>
          </a:p>
        </p:txBody>
      </p:sp>
      <p:sp>
        <p:nvSpPr>
          <p:cNvPr id="33" name="Text 25"/>
          <p:cNvSpPr txBox="1"/>
          <p:nvPr/>
        </p:nvSpPr>
        <p:spPr>
          <a:xfrm>
            <a:off x="457200" y="4462272"/>
            <a:ext cx="8229600" cy="256032"/>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Termékek: lakásbiztosítás, KGFB, casco · 4 tesztforgatókönyv mintaadattal · fókusz: a díjakkal kapcsolatos ügyfélhívások csökkentése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A módszer: terv, kis lépések, kontrollpontok</a:t>
            </a:r>
            <a:endParaRPr lang="en-US" sz="2600" dirty="0"/>
          </a:p>
        </p:txBody>
      </p:sp>
      <p:sp>
        <p:nvSpPr>
          <p:cNvPr id="3" name="Text 1"/>
          <p:cNvSpPr txBox="1"/>
          <p:nvPr/>
        </p:nvSpPr>
        <p:spPr>
          <a:xfrm>
            <a:off x="457200" y="868680"/>
            <a:ext cx="7680960" cy="320040"/>
          </a:xfrm>
          <a:prstGeom prst="rect">
            <a:avLst/>
          </a:prstGeom>
          <a:noFill/>
          <a:ln/>
        </p:spPr>
        <p:txBody>
          <a:bodyPr wrap="square" lIns="0" tIns="0" rIns="0" bIns="0" rtlCol="0" anchor="t"/>
          <a:lstStyle/>
          <a:p>
            <a:pPr indent="0" marL="0">
              <a:buNone/>
            </a:pPr>
            <a:r>
              <a:rPr lang="en-US" sz="1500" dirty="0">
                <a:solidFill>
                  <a:srgbClr val="4A545E"/>
                </a:solidFill>
                <a:latin typeface="Calibri" pitchFamily="34" charset="0"/>
                <a:ea typeface="Calibri" pitchFamily="34" charset="-122"/>
                <a:cs typeface="Calibri" pitchFamily="34" charset="-120"/>
              </a:rPr>
              <a:t>Minden allépés végén az AI bemutatja az eredményt – csak jóváhagyás után megy tovább.</a:t>
            </a:r>
            <a:endParaRPr lang="en-US" sz="1500" dirty="0"/>
          </a:p>
        </p:txBody>
      </p:sp>
      <p:sp>
        <p:nvSpPr>
          <p:cNvPr id="4" name="Terv és tisztázó kérdések lépés"/>
          <p:cNvSpPr/>
          <p:nvPr/>
        </p:nvSpPr>
        <p:spPr>
          <a:xfrm>
            <a:off x="457200" y="1325880"/>
            <a:ext cx="1783080" cy="1554480"/>
          </a:xfrm>
          <a:prstGeom prst="roundRect">
            <a:avLst>
              <a:gd name="adj" fmla="val 7059"/>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5" name="Terv és tisztázó kérdések kör"/>
          <p:cNvSpPr/>
          <p:nvPr/>
        </p:nvSpPr>
        <p:spPr>
          <a:xfrm>
            <a:off x="621792" y="1463040"/>
            <a:ext cx="402336" cy="402336"/>
          </a:xfrm>
          <a:prstGeom prst="ellipse">
            <a:avLst/>
          </a:prstGeom>
          <a:solidFill>
            <a:srgbClr val="283168"/>
          </a:solidFill>
          <a:ln w="12700">
            <a:solidFill>
              <a:srgbClr val="283168"/>
            </a:solidFill>
            <a:prstDash val="solid"/>
          </a:ln>
        </p:spPr>
      </p:sp>
      <p:pic>
        <p:nvPicPr>
          <p:cNvPr id="6" name="Terv és tisztázó kérdések ikon" descr="preencoded.png">    </p:cNvPr>
          <p:cNvPicPr>
            <a:picLocks noChangeAspect="1"/>
          </p:cNvPicPr>
          <p:nvPr/>
        </p:nvPicPr>
        <p:blipFill>
          <a:blip r:embed="rId1"/>
          <a:stretch>
            <a:fillRect/>
          </a:stretch>
        </p:blipFill>
        <p:spPr>
          <a:xfrm>
            <a:off x="722376" y="1563624"/>
            <a:ext cx="201168" cy="201168"/>
          </a:xfrm>
          <a:prstGeom prst="rect">
            <a:avLst/>
          </a:prstGeom>
        </p:spPr>
      </p:pic>
      <p:sp>
        <p:nvSpPr>
          <p:cNvPr id="7" name="Text 4"/>
          <p:cNvSpPr txBox="1"/>
          <p:nvPr/>
        </p:nvSpPr>
        <p:spPr>
          <a:xfrm>
            <a:off x="621792" y="1938528"/>
            <a:ext cx="1508760" cy="420624"/>
          </a:xfrm>
          <a:prstGeom prst="rect">
            <a:avLst/>
          </a:prstGeom>
          <a:noFill/>
          <a:ln/>
        </p:spPr>
        <p:txBody>
          <a:bodyPr wrap="square" lIns="0" tIns="0" rIns="0" bIns="0" rtlCol="0" anchor="b"/>
          <a:lstStyle/>
          <a:p>
            <a:pPr indent="0" marL="0">
              <a:buNone/>
            </a:pPr>
            <a:r>
              <a:rPr lang="en-US" sz="1300" b="1" dirty="0">
                <a:solidFill>
                  <a:srgbClr val="283168"/>
                </a:solidFill>
                <a:latin typeface="Calibri" pitchFamily="34" charset="0"/>
                <a:ea typeface="Calibri" pitchFamily="34" charset="-122"/>
                <a:cs typeface="Calibri" pitchFamily="34" charset="-120"/>
              </a:rPr>
              <a:t>Terv és tisztázó kérdések</a:t>
            </a:r>
            <a:endParaRPr lang="en-US" sz="1300" dirty="0"/>
          </a:p>
        </p:txBody>
      </p:sp>
      <p:sp>
        <p:nvSpPr>
          <p:cNvPr id="8" name="Text 5"/>
          <p:cNvSpPr txBox="1"/>
          <p:nvPr/>
        </p:nvSpPr>
        <p:spPr>
          <a:xfrm>
            <a:off x="621792" y="2414016"/>
            <a:ext cx="1508760" cy="420624"/>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Mi a cél, mi nem része, milyen anyag van?</a:t>
            </a:r>
            <a:endParaRPr lang="en-US" sz="1100" dirty="0"/>
          </a:p>
        </p:txBody>
      </p:sp>
      <p:sp>
        <p:nvSpPr>
          <p:cNvPr id="9" name="nyíl 1"/>
          <p:cNvSpPr/>
          <p:nvPr/>
        </p:nvSpPr>
        <p:spPr>
          <a:xfrm>
            <a:off x="2276856" y="1984248"/>
            <a:ext cx="182880" cy="228600"/>
          </a:xfrm>
          <a:prstGeom prst="rightArrow">
            <a:avLst/>
          </a:prstGeom>
          <a:solidFill>
            <a:srgbClr val="45C396"/>
          </a:solidFill>
          <a:ln w="12700">
            <a:solidFill>
              <a:srgbClr val="45C396"/>
            </a:solidFill>
            <a:prstDash val="solid"/>
          </a:ln>
        </p:spPr>
      </p:sp>
      <p:sp>
        <p:nvSpPr>
          <p:cNvPr id="10" name="Egy allépés lépés"/>
          <p:cNvSpPr/>
          <p:nvPr/>
        </p:nvSpPr>
        <p:spPr>
          <a:xfrm>
            <a:off x="2496312" y="1325880"/>
            <a:ext cx="1783080" cy="1554480"/>
          </a:xfrm>
          <a:prstGeom prst="roundRect">
            <a:avLst>
              <a:gd name="adj" fmla="val 7059"/>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1" name="Egy allépés kör"/>
          <p:cNvSpPr/>
          <p:nvPr/>
        </p:nvSpPr>
        <p:spPr>
          <a:xfrm>
            <a:off x="2660904" y="1463040"/>
            <a:ext cx="402336" cy="402336"/>
          </a:xfrm>
          <a:prstGeom prst="ellipse">
            <a:avLst/>
          </a:prstGeom>
          <a:solidFill>
            <a:srgbClr val="283168"/>
          </a:solidFill>
          <a:ln w="12700">
            <a:solidFill>
              <a:srgbClr val="283168"/>
            </a:solidFill>
            <a:prstDash val="solid"/>
          </a:ln>
        </p:spPr>
      </p:sp>
      <p:pic>
        <p:nvPicPr>
          <p:cNvPr id="12" name="Egy allépés ikon" descr="preencoded.png">    </p:cNvPr>
          <p:cNvPicPr>
            <a:picLocks noChangeAspect="1"/>
          </p:cNvPicPr>
          <p:nvPr/>
        </p:nvPicPr>
        <p:blipFill>
          <a:blip r:embed="rId2"/>
          <a:stretch>
            <a:fillRect/>
          </a:stretch>
        </p:blipFill>
        <p:spPr>
          <a:xfrm>
            <a:off x="2761488" y="1563624"/>
            <a:ext cx="201168" cy="201168"/>
          </a:xfrm>
          <a:prstGeom prst="rect">
            <a:avLst/>
          </a:prstGeom>
        </p:spPr>
      </p:pic>
      <p:sp>
        <p:nvSpPr>
          <p:cNvPr id="13" name="Text 9"/>
          <p:cNvSpPr txBox="1"/>
          <p:nvPr/>
        </p:nvSpPr>
        <p:spPr>
          <a:xfrm>
            <a:off x="2660904" y="1938528"/>
            <a:ext cx="1508760" cy="420624"/>
          </a:xfrm>
          <a:prstGeom prst="rect">
            <a:avLst/>
          </a:prstGeom>
          <a:noFill/>
          <a:ln/>
        </p:spPr>
        <p:txBody>
          <a:bodyPr wrap="square" lIns="0" tIns="0" rIns="0" bIns="0" rtlCol="0" anchor="b"/>
          <a:lstStyle/>
          <a:p>
            <a:pPr indent="0" marL="0">
              <a:buNone/>
            </a:pPr>
            <a:r>
              <a:rPr lang="en-US" sz="1300" b="1" dirty="0">
                <a:solidFill>
                  <a:srgbClr val="283168"/>
                </a:solidFill>
                <a:latin typeface="Calibri" pitchFamily="34" charset="0"/>
                <a:ea typeface="Calibri" pitchFamily="34" charset="-122"/>
                <a:cs typeface="Calibri" pitchFamily="34" charset="-120"/>
              </a:rPr>
              <a:t>Egy allépés</a:t>
            </a:r>
            <a:endParaRPr lang="en-US" sz="1300" dirty="0"/>
          </a:p>
        </p:txBody>
      </p:sp>
      <p:sp>
        <p:nvSpPr>
          <p:cNvPr id="14" name="Text 10"/>
          <p:cNvSpPr txBox="1"/>
          <p:nvPr/>
        </p:nvSpPr>
        <p:spPr>
          <a:xfrm>
            <a:off x="2660904" y="2414016"/>
            <a:ext cx="1508760" cy="420624"/>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Kis, áttekinthető darab</a:t>
            </a:r>
            <a:endParaRPr lang="en-US" sz="1100" dirty="0"/>
          </a:p>
        </p:txBody>
      </p:sp>
      <p:sp>
        <p:nvSpPr>
          <p:cNvPr id="15" name="nyíl 2"/>
          <p:cNvSpPr/>
          <p:nvPr/>
        </p:nvSpPr>
        <p:spPr>
          <a:xfrm>
            <a:off x="4315968" y="1984248"/>
            <a:ext cx="182880" cy="228600"/>
          </a:xfrm>
          <a:prstGeom prst="rightArrow">
            <a:avLst/>
          </a:prstGeom>
          <a:solidFill>
            <a:srgbClr val="45C396"/>
          </a:solidFill>
          <a:ln w="12700">
            <a:solidFill>
              <a:srgbClr val="45C396"/>
            </a:solidFill>
            <a:prstDash val="solid"/>
          </a:ln>
        </p:spPr>
      </p:sp>
      <p:sp>
        <p:nvSpPr>
          <p:cNvPr id="16" name="Bemutatás lépés"/>
          <p:cNvSpPr/>
          <p:nvPr/>
        </p:nvSpPr>
        <p:spPr>
          <a:xfrm>
            <a:off x="4535424" y="1325880"/>
            <a:ext cx="1783080" cy="1554480"/>
          </a:xfrm>
          <a:prstGeom prst="roundRect">
            <a:avLst>
              <a:gd name="adj" fmla="val 7059"/>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7" name="Bemutatás kör"/>
          <p:cNvSpPr/>
          <p:nvPr/>
        </p:nvSpPr>
        <p:spPr>
          <a:xfrm>
            <a:off x="4700016" y="1463040"/>
            <a:ext cx="402336" cy="402336"/>
          </a:xfrm>
          <a:prstGeom prst="ellipse">
            <a:avLst/>
          </a:prstGeom>
          <a:solidFill>
            <a:srgbClr val="283168"/>
          </a:solidFill>
          <a:ln w="12700">
            <a:solidFill>
              <a:srgbClr val="283168"/>
            </a:solidFill>
            <a:prstDash val="solid"/>
          </a:ln>
        </p:spPr>
      </p:sp>
      <p:pic>
        <p:nvPicPr>
          <p:cNvPr id="18" name="Bemutatás ikon" descr="preencoded.png">    </p:cNvPr>
          <p:cNvPicPr>
            <a:picLocks noChangeAspect="1"/>
          </p:cNvPicPr>
          <p:nvPr/>
        </p:nvPicPr>
        <p:blipFill>
          <a:blip r:embed="rId3"/>
          <a:stretch>
            <a:fillRect/>
          </a:stretch>
        </p:blipFill>
        <p:spPr>
          <a:xfrm>
            <a:off x="4800600" y="1563624"/>
            <a:ext cx="201168" cy="201168"/>
          </a:xfrm>
          <a:prstGeom prst="rect">
            <a:avLst/>
          </a:prstGeom>
        </p:spPr>
      </p:pic>
      <p:sp>
        <p:nvSpPr>
          <p:cNvPr id="19" name="Text 14"/>
          <p:cNvSpPr txBox="1"/>
          <p:nvPr/>
        </p:nvSpPr>
        <p:spPr>
          <a:xfrm>
            <a:off x="4700016" y="1938528"/>
            <a:ext cx="1508760" cy="420624"/>
          </a:xfrm>
          <a:prstGeom prst="rect">
            <a:avLst/>
          </a:prstGeom>
          <a:noFill/>
          <a:ln/>
        </p:spPr>
        <p:txBody>
          <a:bodyPr wrap="square" lIns="0" tIns="0" rIns="0" bIns="0" rtlCol="0" anchor="b"/>
          <a:lstStyle/>
          <a:p>
            <a:pPr indent="0" marL="0">
              <a:buNone/>
            </a:pPr>
            <a:r>
              <a:rPr lang="en-US" sz="1300" b="1" dirty="0">
                <a:solidFill>
                  <a:srgbClr val="283168"/>
                </a:solidFill>
                <a:latin typeface="Calibri" pitchFamily="34" charset="0"/>
                <a:ea typeface="Calibri" pitchFamily="34" charset="-122"/>
                <a:cs typeface="Calibri" pitchFamily="34" charset="-120"/>
              </a:rPr>
              <a:t>Bemutatás</a:t>
            </a:r>
            <a:endParaRPr lang="en-US" sz="1300" dirty="0"/>
          </a:p>
        </p:txBody>
      </p:sp>
      <p:sp>
        <p:nvSpPr>
          <p:cNvPr id="20" name="Text 15"/>
          <p:cNvSpPr txBox="1"/>
          <p:nvPr/>
        </p:nvSpPr>
        <p:spPr>
          <a:xfrm>
            <a:off x="4700016" y="2414016"/>
            <a:ext cx="1508760" cy="420624"/>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Képernyőkép, teszt, összefoglaló</a:t>
            </a:r>
            <a:endParaRPr lang="en-US" sz="1100" dirty="0"/>
          </a:p>
        </p:txBody>
      </p:sp>
      <p:sp>
        <p:nvSpPr>
          <p:cNvPr id="21" name="nyíl 3"/>
          <p:cNvSpPr/>
          <p:nvPr/>
        </p:nvSpPr>
        <p:spPr>
          <a:xfrm>
            <a:off x="6355080" y="1984248"/>
            <a:ext cx="182880" cy="228600"/>
          </a:xfrm>
          <a:prstGeom prst="rightArrow">
            <a:avLst/>
          </a:prstGeom>
          <a:solidFill>
            <a:srgbClr val="45C396"/>
          </a:solidFill>
          <a:ln w="12700">
            <a:solidFill>
              <a:srgbClr val="45C396"/>
            </a:solidFill>
            <a:prstDash val="solid"/>
          </a:ln>
        </p:spPr>
      </p:sp>
      <p:sp>
        <p:nvSpPr>
          <p:cNvPr id="22" name="Jóváhagyás vagy korrekció lépés"/>
          <p:cNvSpPr/>
          <p:nvPr/>
        </p:nvSpPr>
        <p:spPr>
          <a:xfrm>
            <a:off x="6574536" y="1325880"/>
            <a:ext cx="1783080" cy="1554480"/>
          </a:xfrm>
          <a:prstGeom prst="roundRect">
            <a:avLst>
              <a:gd name="adj" fmla="val 7059"/>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23" name="Jóváhagyás vagy korrekció kör"/>
          <p:cNvSpPr/>
          <p:nvPr/>
        </p:nvSpPr>
        <p:spPr>
          <a:xfrm>
            <a:off x="6739128" y="1463040"/>
            <a:ext cx="402336" cy="402336"/>
          </a:xfrm>
          <a:prstGeom prst="ellipse">
            <a:avLst/>
          </a:prstGeom>
          <a:solidFill>
            <a:srgbClr val="45C396"/>
          </a:solidFill>
          <a:ln w="12700">
            <a:solidFill>
              <a:srgbClr val="45C396"/>
            </a:solidFill>
            <a:prstDash val="solid"/>
          </a:ln>
        </p:spPr>
      </p:sp>
      <p:pic>
        <p:nvPicPr>
          <p:cNvPr id="24" name="Jóváhagyás vagy korrekció ikon" descr="preencoded.png">    </p:cNvPr>
          <p:cNvPicPr>
            <a:picLocks noChangeAspect="1"/>
          </p:cNvPicPr>
          <p:nvPr/>
        </p:nvPicPr>
        <p:blipFill>
          <a:blip r:embed="rId4"/>
          <a:stretch>
            <a:fillRect/>
          </a:stretch>
        </p:blipFill>
        <p:spPr>
          <a:xfrm>
            <a:off x="6839712" y="1563624"/>
            <a:ext cx="201168" cy="201168"/>
          </a:xfrm>
          <a:prstGeom prst="rect">
            <a:avLst/>
          </a:prstGeom>
        </p:spPr>
      </p:pic>
      <p:sp>
        <p:nvSpPr>
          <p:cNvPr id="25" name="Text 19"/>
          <p:cNvSpPr txBox="1"/>
          <p:nvPr/>
        </p:nvSpPr>
        <p:spPr>
          <a:xfrm>
            <a:off x="6739128" y="1938528"/>
            <a:ext cx="1508760" cy="420624"/>
          </a:xfrm>
          <a:prstGeom prst="rect">
            <a:avLst/>
          </a:prstGeom>
          <a:noFill/>
          <a:ln/>
        </p:spPr>
        <p:txBody>
          <a:bodyPr wrap="square" lIns="0" tIns="0" rIns="0" bIns="0" rtlCol="0" anchor="b"/>
          <a:lstStyle/>
          <a:p>
            <a:pPr indent="0" marL="0">
              <a:buNone/>
            </a:pPr>
            <a:r>
              <a:rPr lang="en-US" sz="1300" b="1" dirty="0">
                <a:solidFill>
                  <a:srgbClr val="283168"/>
                </a:solidFill>
                <a:latin typeface="Calibri" pitchFamily="34" charset="0"/>
                <a:ea typeface="Calibri" pitchFamily="34" charset="-122"/>
                <a:cs typeface="Calibri" pitchFamily="34" charset="-120"/>
              </a:rPr>
              <a:t>Jóváhagyás vagy korrekció</a:t>
            </a:r>
            <a:endParaRPr lang="en-US" sz="1300" dirty="0"/>
          </a:p>
        </p:txBody>
      </p:sp>
      <p:sp>
        <p:nvSpPr>
          <p:cNvPr id="26" name="Text 20"/>
          <p:cNvSpPr txBox="1"/>
          <p:nvPr/>
        </p:nvSpPr>
        <p:spPr>
          <a:xfrm>
            <a:off x="6739128" y="2414016"/>
            <a:ext cx="1508760" cy="420624"/>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Az ember dönt</a:t>
            </a:r>
            <a:endParaRPr lang="en-US" sz="1100" dirty="0"/>
          </a:p>
        </p:txBody>
      </p:sp>
      <p:sp>
        <p:nvSpPr>
          <p:cNvPr id="27" name="visszacsatolás"/>
          <p:cNvSpPr/>
          <p:nvPr/>
        </p:nvSpPr>
        <p:spPr>
          <a:xfrm>
            <a:off x="3387852" y="3017520"/>
            <a:ext cx="4078224" cy="0"/>
          </a:xfrm>
          <a:prstGeom prst="line">
            <a:avLst/>
          </a:prstGeom>
          <a:noFill/>
          <a:ln w="19050">
            <a:solidFill>
              <a:srgbClr val="45C396"/>
            </a:solidFill>
            <a:prstDash val="dash"/>
            <a:headEnd type="triangle"/>
          </a:ln>
        </p:spPr>
      </p:sp>
      <p:sp>
        <p:nvSpPr>
          <p:cNvPr id="28" name="Text 22"/>
          <p:cNvSpPr txBox="1"/>
          <p:nvPr/>
        </p:nvSpPr>
        <p:spPr>
          <a:xfrm>
            <a:off x="4421124" y="3063240"/>
            <a:ext cx="2011680" cy="228600"/>
          </a:xfrm>
          <a:prstGeom prst="rect">
            <a:avLst/>
          </a:prstGeom>
          <a:noFill/>
          <a:ln/>
        </p:spPr>
        <p:txBody>
          <a:bodyPr wrap="square" lIns="0" tIns="0" rIns="0" bIns="0" rtlCol="0" anchor="t"/>
          <a:lstStyle/>
          <a:p>
            <a:pPr algn="ctr" indent="0" marL="0">
              <a:buNone/>
            </a:pPr>
            <a:r>
              <a:rPr lang="en-US" sz="1100" i="1" dirty="0">
                <a:solidFill>
                  <a:srgbClr val="00875F"/>
                </a:solidFill>
                <a:latin typeface="Calibri" pitchFamily="34" charset="0"/>
                <a:ea typeface="Calibri" pitchFamily="34" charset="-122"/>
                <a:cs typeface="Calibri" pitchFamily="34" charset="-120"/>
              </a:rPr>
              <a:t>következő allépés</a:t>
            </a:r>
            <a:endParaRPr lang="en-US" sz="1100" dirty="0"/>
          </a:p>
        </p:txBody>
      </p:sp>
      <p:sp>
        <p:nvSpPr>
          <p:cNvPr id="29" name="Text 23"/>
          <p:cNvSpPr txBox="1"/>
          <p:nvPr/>
        </p:nvSpPr>
        <p:spPr>
          <a:xfrm>
            <a:off x="457200" y="3383280"/>
            <a:ext cx="2743200" cy="274320"/>
          </a:xfrm>
          <a:prstGeom prst="rect">
            <a:avLst/>
          </a:prstGeom>
          <a:noFill/>
          <a:ln/>
        </p:spPr>
        <p:txBody>
          <a:bodyPr wrap="square" lIns="0" tIns="0" rIns="0" bIns="0" rtlCol="0" anchor="t"/>
          <a:lstStyle/>
          <a:p>
            <a:pPr indent="0" marL="0">
              <a:buNone/>
            </a:pPr>
            <a:r>
              <a:rPr lang="en-US" sz="1300" b="1" dirty="0">
                <a:solidFill>
                  <a:srgbClr val="283168"/>
                </a:solidFill>
                <a:latin typeface="Century Gothic" pitchFamily="34" charset="0"/>
                <a:ea typeface="Century Gothic" pitchFamily="34" charset="-122"/>
                <a:cs typeface="Century Gothic" pitchFamily="34" charset="-120"/>
              </a:rPr>
              <a:t>Szakaszok</a:t>
            </a:r>
            <a:endParaRPr lang="en-US" sz="1300" dirty="0"/>
          </a:p>
        </p:txBody>
      </p:sp>
      <p:sp>
        <p:nvSpPr>
          <p:cNvPr id="30" name="szakasz A"/>
          <p:cNvSpPr/>
          <p:nvPr/>
        </p:nvSpPr>
        <p:spPr>
          <a:xfrm>
            <a:off x="457200" y="3730752"/>
            <a:ext cx="1536192" cy="749808"/>
          </a:xfrm>
          <a:prstGeom prst="roundRect">
            <a:avLst>
              <a:gd name="adj" fmla="val 50000"/>
            </a:avLst>
          </a:prstGeom>
          <a:solidFill>
            <a:srgbClr val="E6F7F1"/>
          </a:solidFill>
          <a:ln w="12700">
            <a:solidFill>
              <a:srgbClr val="45C396"/>
            </a:solidFill>
            <a:prstDash val="solid"/>
          </a:ln>
        </p:spPr>
      </p:sp>
      <p:sp>
        <p:nvSpPr>
          <p:cNvPr id="31" name="szakasz betű A"/>
          <p:cNvSpPr/>
          <p:nvPr/>
        </p:nvSpPr>
        <p:spPr>
          <a:xfrm>
            <a:off x="566928" y="3858768"/>
            <a:ext cx="493776" cy="493776"/>
          </a:xfrm>
          <a:prstGeom prst="ellipse">
            <a:avLst/>
          </a:prstGeom>
          <a:solidFill>
            <a:srgbClr val="00875F"/>
          </a:solidFill>
          <a:ln w="12700">
            <a:solidFill>
              <a:srgbClr val="00875F"/>
            </a:solidFill>
            <a:prstDash val="solid"/>
          </a:ln>
        </p:spPr>
      </p:sp>
      <p:sp>
        <p:nvSpPr>
          <p:cNvPr id="32" name="Text 26"/>
          <p:cNvSpPr txBox="1"/>
          <p:nvPr/>
        </p:nvSpPr>
        <p:spPr>
          <a:xfrm>
            <a:off x="566928" y="385876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A</a:t>
            </a:r>
            <a:endParaRPr lang="en-US" sz="1600" dirty="0"/>
          </a:p>
        </p:txBody>
      </p:sp>
      <p:sp>
        <p:nvSpPr>
          <p:cNvPr id="33" name="Text 27"/>
          <p:cNvSpPr txBox="1"/>
          <p:nvPr/>
        </p:nvSpPr>
        <p:spPr>
          <a:xfrm>
            <a:off x="1133856" y="3840480"/>
            <a:ext cx="786384" cy="329184"/>
          </a:xfrm>
          <a:prstGeom prst="rect">
            <a:avLst/>
          </a:prstGeom>
          <a:noFill/>
          <a:ln/>
        </p:spPr>
        <p:txBody>
          <a:bodyPr wrap="square" lIns="0" tIns="0" rIns="0" bIns="0" rtlCol="0" anchor="ctr"/>
          <a:lstStyle/>
          <a:p>
            <a:pPr indent="0" marL="0">
              <a:buNone/>
            </a:pPr>
            <a:r>
              <a:rPr lang="en-US" sz="1100" b="1" dirty="0">
                <a:solidFill>
                  <a:srgbClr val="283168"/>
                </a:solidFill>
                <a:latin typeface="Calibri" pitchFamily="34" charset="0"/>
                <a:ea typeface="Calibri" pitchFamily="34" charset="-122"/>
                <a:cs typeface="Calibri" pitchFamily="34" charset="-120"/>
              </a:rPr>
              <a:t>Tartalom, szabályok</a:t>
            </a:r>
            <a:endParaRPr lang="en-US" sz="1100" dirty="0"/>
          </a:p>
        </p:txBody>
      </p:sp>
      <p:sp>
        <p:nvSpPr>
          <p:cNvPr id="34" name="Text 28"/>
          <p:cNvSpPr txBox="1"/>
          <p:nvPr/>
        </p:nvSpPr>
        <p:spPr>
          <a:xfrm>
            <a:off x="1133856" y="4142232"/>
            <a:ext cx="786384" cy="228600"/>
          </a:xfrm>
          <a:prstGeom prst="rect">
            <a:avLst/>
          </a:prstGeom>
          <a:noFill/>
          <a:ln/>
        </p:spPr>
        <p:txBody>
          <a:bodyPr wrap="square" lIns="0" tIns="0" rIns="0" bIns="0" rtlCol="0" anchor="t"/>
          <a:lstStyle/>
          <a:p>
            <a:pPr indent="0" marL="0">
              <a:buNone/>
            </a:pPr>
            <a:r>
              <a:rPr lang="en-US" sz="1000" dirty="0">
                <a:solidFill>
                  <a:srgbClr val="00875F"/>
                </a:solidFill>
                <a:latin typeface="Calibri" pitchFamily="34" charset="0"/>
                <a:ea typeface="Calibri" pitchFamily="34" charset="-122"/>
                <a:cs typeface="Calibri" pitchFamily="34" charset="-120"/>
              </a:rPr>
              <a:t>kész</a:t>
            </a:r>
            <a:endParaRPr lang="en-US" sz="1000" dirty="0"/>
          </a:p>
        </p:txBody>
      </p:sp>
      <p:sp>
        <p:nvSpPr>
          <p:cNvPr id="35" name="szakasz B"/>
          <p:cNvSpPr/>
          <p:nvPr/>
        </p:nvSpPr>
        <p:spPr>
          <a:xfrm>
            <a:off x="2084832" y="3730752"/>
            <a:ext cx="1536192" cy="749808"/>
          </a:xfrm>
          <a:prstGeom prst="roundRect">
            <a:avLst>
              <a:gd name="adj" fmla="val 50000"/>
            </a:avLst>
          </a:prstGeom>
          <a:solidFill>
            <a:srgbClr val="E6F7F1"/>
          </a:solidFill>
          <a:ln w="12700">
            <a:solidFill>
              <a:srgbClr val="45C396"/>
            </a:solidFill>
            <a:prstDash val="solid"/>
          </a:ln>
        </p:spPr>
      </p:sp>
      <p:sp>
        <p:nvSpPr>
          <p:cNvPr id="36" name="szakasz betű B"/>
          <p:cNvSpPr/>
          <p:nvPr/>
        </p:nvSpPr>
        <p:spPr>
          <a:xfrm>
            <a:off x="2194560" y="3858768"/>
            <a:ext cx="493776" cy="493776"/>
          </a:xfrm>
          <a:prstGeom prst="ellipse">
            <a:avLst/>
          </a:prstGeom>
          <a:solidFill>
            <a:srgbClr val="00875F"/>
          </a:solidFill>
          <a:ln w="12700">
            <a:solidFill>
              <a:srgbClr val="00875F"/>
            </a:solidFill>
            <a:prstDash val="solid"/>
          </a:ln>
        </p:spPr>
      </p:sp>
      <p:sp>
        <p:nvSpPr>
          <p:cNvPr id="37" name="Text 31"/>
          <p:cNvSpPr txBox="1"/>
          <p:nvPr/>
        </p:nvSpPr>
        <p:spPr>
          <a:xfrm>
            <a:off x="2194560" y="385876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B</a:t>
            </a:r>
            <a:endParaRPr lang="en-US" sz="1600" dirty="0"/>
          </a:p>
        </p:txBody>
      </p:sp>
      <p:sp>
        <p:nvSpPr>
          <p:cNvPr id="38" name="Text 32"/>
          <p:cNvSpPr txBox="1"/>
          <p:nvPr/>
        </p:nvSpPr>
        <p:spPr>
          <a:xfrm>
            <a:off x="2761488" y="3840480"/>
            <a:ext cx="786384" cy="329184"/>
          </a:xfrm>
          <a:prstGeom prst="rect">
            <a:avLst/>
          </a:prstGeom>
          <a:noFill/>
          <a:ln/>
        </p:spPr>
        <p:txBody>
          <a:bodyPr wrap="square" lIns="0" tIns="0" rIns="0" bIns="0" rtlCol="0" anchor="ctr"/>
          <a:lstStyle/>
          <a:p>
            <a:pPr indent="0" marL="0">
              <a:buNone/>
            </a:pPr>
            <a:r>
              <a:rPr lang="en-US" sz="1100" b="1" dirty="0">
                <a:solidFill>
                  <a:srgbClr val="283168"/>
                </a:solidFill>
                <a:latin typeface="Calibri" pitchFamily="34" charset="0"/>
                <a:ea typeface="Calibri" pitchFamily="34" charset="-122"/>
                <a:cs typeface="Calibri" pitchFamily="34" charset="-120"/>
              </a:rPr>
              <a:t>Alapok</a:t>
            </a:r>
            <a:endParaRPr lang="en-US" sz="1100" dirty="0"/>
          </a:p>
        </p:txBody>
      </p:sp>
      <p:sp>
        <p:nvSpPr>
          <p:cNvPr id="39" name="Text 33"/>
          <p:cNvSpPr txBox="1"/>
          <p:nvPr/>
        </p:nvSpPr>
        <p:spPr>
          <a:xfrm>
            <a:off x="2761488" y="4142232"/>
            <a:ext cx="786384" cy="228600"/>
          </a:xfrm>
          <a:prstGeom prst="rect">
            <a:avLst/>
          </a:prstGeom>
          <a:noFill/>
          <a:ln/>
        </p:spPr>
        <p:txBody>
          <a:bodyPr wrap="square" lIns="0" tIns="0" rIns="0" bIns="0" rtlCol="0" anchor="t"/>
          <a:lstStyle/>
          <a:p>
            <a:pPr indent="0" marL="0">
              <a:buNone/>
            </a:pPr>
            <a:r>
              <a:rPr lang="en-US" sz="1000" dirty="0">
                <a:solidFill>
                  <a:srgbClr val="00875F"/>
                </a:solidFill>
                <a:latin typeface="Calibri" pitchFamily="34" charset="0"/>
                <a:ea typeface="Calibri" pitchFamily="34" charset="-122"/>
                <a:cs typeface="Calibri" pitchFamily="34" charset="-120"/>
              </a:rPr>
              <a:t>kész</a:t>
            </a:r>
            <a:endParaRPr lang="en-US" sz="1000" dirty="0"/>
          </a:p>
        </p:txBody>
      </p:sp>
      <p:sp>
        <p:nvSpPr>
          <p:cNvPr id="40" name="szakasz C"/>
          <p:cNvSpPr/>
          <p:nvPr/>
        </p:nvSpPr>
        <p:spPr>
          <a:xfrm>
            <a:off x="3712464" y="3730752"/>
            <a:ext cx="1536192" cy="749808"/>
          </a:xfrm>
          <a:prstGeom prst="roundRect">
            <a:avLst>
              <a:gd name="adj" fmla="val 50000"/>
            </a:avLst>
          </a:prstGeom>
          <a:solidFill>
            <a:srgbClr val="E6F7F1"/>
          </a:solidFill>
          <a:ln w="12700">
            <a:solidFill>
              <a:srgbClr val="45C396"/>
            </a:solidFill>
            <a:prstDash val="solid"/>
          </a:ln>
        </p:spPr>
      </p:sp>
      <p:sp>
        <p:nvSpPr>
          <p:cNvPr id="41" name="szakasz betű C"/>
          <p:cNvSpPr/>
          <p:nvPr/>
        </p:nvSpPr>
        <p:spPr>
          <a:xfrm>
            <a:off x="3822192" y="3858768"/>
            <a:ext cx="493776" cy="493776"/>
          </a:xfrm>
          <a:prstGeom prst="ellipse">
            <a:avLst/>
          </a:prstGeom>
          <a:solidFill>
            <a:srgbClr val="00875F"/>
          </a:solidFill>
          <a:ln w="12700">
            <a:solidFill>
              <a:srgbClr val="00875F"/>
            </a:solidFill>
            <a:prstDash val="solid"/>
          </a:ln>
        </p:spPr>
      </p:sp>
      <p:sp>
        <p:nvSpPr>
          <p:cNvPr id="42" name="Text 36"/>
          <p:cNvSpPr txBox="1"/>
          <p:nvPr/>
        </p:nvSpPr>
        <p:spPr>
          <a:xfrm>
            <a:off x="3822192" y="385876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C</a:t>
            </a:r>
            <a:endParaRPr lang="en-US" sz="1600" dirty="0"/>
          </a:p>
        </p:txBody>
      </p:sp>
      <p:sp>
        <p:nvSpPr>
          <p:cNvPr id="43" name="Text 37"/>
          <p:cNvSpPr txBox="1"/>
          <p:nvPr/>
        </p:nvSpPr>
        <p:spPr>
          <a:xfrm>
            <a:off x="4389120" y="3840480"/>
            <a:ext cx="786384" cy="329184"/>
          </a:xfrm>
          <a:prstGeom prst="rect">
            <a:avLst/>
          </a:prstGeom>
          <a:noFill/>
          <a:ln/>
        </p:spPr>
        <p:txBody>
          <a:bodyPr wrap="square" lIns="0" tIns="0" rIns="0" bIns="0" rtlCol="0" anchor="ctr"/>
          <a:lstStyle/>
          <a:p>
            <a:pPr indent="0" marL="0">
              <a:buNone/>
            </a:pPr>
            <a:r>
              <a:rPr lang="en-US" sz="1100" b="1" dirty="0">
                <a:solidFill>
                  <a:srgbClr val="283168"/>
                </a:solidFill>
                <a:latin typeface="Calibri" pitchFamily="34" charset="0"/>
                <a:ea typeface="Calibri" pitchFamily="34" charset="-122"/>
                <a:cs typeface="Calibri" pitchFamily="34" charset="-120"/>
              </a:rPr>
              <a:t>Ügyfél nézet</a:t>
            </a:r>
            <a:endParaRPr lang="en-US" sz="1100" dirty="0"/>
          </a:p>
        </p:txBody>
      </p:sp>
      <p:sp>
        <p:nvSpPr>
          <p:cNvPr id="44" name="Text 38"/>
          <p:cNvSpPr txBox="1"/>
          <p:nvPr/>
        </p:nvSpPr>
        <p:spPr>
          <a:xfrm>
            <a:off x="4389120" y="4142232"/>
            <a:ext cx="786384" cy="228600"/>
          </a:xfrm>
          <a:prstGeom prst="rect">
            <a:avLst/>
          </a:prstGeom>
          <a:noFill/>
          <a:ln/>
        </p:spPr>
        <p:txBody>
          <a:bodyPr wrap="square" lIns="0" tIns="0" rIns="0" bIns="0" rtlCol="0" anchor="t"/>
          <a:lstStyle/>
          <a:p>
            <a:pPr indent="0" marL="0">
              <a:buNone/>
            </a:pPr>
            <a:r>
              <a:rPr lang="en-US" sz="1000" dirty="0">
                <a:solidFill>
                  <a:srgbClr val="00875F"/>
                </a:solidFill>
                <a:latin typeface="Calibri" pitchFamily="34" charset="0"/>
                <a:ea typeface="Calibri" pitchFamily="34" charset="-122"/>
                <a:cs typeface="Calibri" pitchFamily="34" charset="-120"/>
              </a:rPr>
              <a:t>kész</a:t>
            </a:r>
            <a:endParaRPr lang="en-US" sz="1000" dirty="0"/>
          </a:p>
        </p:txBody>
      </p:sp>
      <p:sp>
        <p:nvSpPr>
          <p:cNvPr id="45" name="szakasz D"/>
          <p:cNvSpPr/>
          <p:nvPr/>
        </p:nvSpPr>
        <p:spPr>
          <a:xfrm>
            <a:off x="5340096" y="3730752"/>
            <a:ext cx="1536192" cy="749808"/>
          </a:xfrm>
          <a:prstGeom prst="roundRect">
            <a:avLst>
              <a:gd name="adj" fmla="val 50000"/>
            </a:avLst>
          </a:prstGeom>
          <a:solidFill>
            <a:srgbClr val="FFFFFF"/>
          </a:solidFill>
          <a:ln w="12700">
            <a:solidFill>
              <a:srgbClr val="DAE1E9"/>
            </a:solidFill>
            <a:prstDash val="solid"/>
          </a:ln>
        </p:spPr>
      </p:sp>
      <p:sp>
        <p:nvSpPr>
          <p:cNvPr id="46" name="szakasz betű D"/>
          <p:cNvSpPr/>
          <p:nvPr/>
        </p:nvSpPr>
        <p:spPr>
          <a:xfrm>
            <a:off x="5449824" y="3858768"/>
            <a:ext cx="493776" cy="493776"/>
          </a:xfrm>
          <a:prstGeom prst="ellipse">
            <a:avLst/>
          </a:prstGeom>
          <a:solidFill>
            <a:srgbClr val="C9CFDA"/>
          </a:solidFill>
          <a:ln w="12700">
            <a:solidFill>
              <a:srgbClr val="C9CFDA"/>
            </a:solidFill>
            <a:prstDash val="solid"/>
          </a:ln>
        </p:spPr>
      </p:sp>
      <p:sp>
        <p:nvSpPr>
          <p:cNvPr id="47" name="Text 41"/>
          <p:cNvSpPr txBox="1"/>
          <p:nvPr/>
        </p:nvSpPr>
        <p:spPr>
          <a:xfrm>
            <a:off x="5449824" y="385876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D</a:t>
            </a:r>
            <a:endParaRPr lang="en-US" sz="1600" dirty="0"/>
          </a:p>
        </p:txBody>
      </p:sp>
      <p:sp>
        <p:nvSpPr>
          <p:cNvPr id="48" name="Text 42"/>
          <p:cNvSpPr txBox="1"/>
          <p:nvPr/>
        </p:nvSpPr>
        <p:spPr>
          <a:xfrm>
            <a:off x="6016752" y="3840480"/>
            <a:ext cx="786384" cy="329184"/>
          </a:xfrm>
          <a:prstGeom prst="rect">
            <a:avLst/>
          </a:prstGeom>
          <a:noFill/>
          <a:ln/>
        </p:spPr>
        <p:txBody>
          <a:bodyPr wrap="square" lIns="0" tIns="0" rIns="0" bIns="0" rtlCol="0" anchor="ctr"/>
          <a:lstStyle/>
          <a:p>
            <a:pPr indent="0" marL="0">
              <a:buNone/>
            </a:pPr>
            <a:r>
              <a:rPr lang="en-US" sz="1100" b="1" dirty="0">
                <a:solidFill>
                  <a:srgbClr val="283168"/>
                </a:solidFill>
                <a:latin typeface="Calibri" pitchFamily="34" charset="0"/>
                <a:ea typeface="Calibri" pitchFamily="34" charset="-122"/>
                <a:cs typeface="Calibri" pitchFamily="34" charset="-120"/>
              </a:rPr>
              <a:t>Ügyintézői nézet</a:t>
            </a:r>
            <a:endParaRPr lang="en-US" sz="1100" dirty="0"/>
          </a:p>
        </p:txBody>
      </p:sp>
      <p:sp>
        <p:nvSpPr>
          <p:cNvPr id="49" name="Text 43"/>
          <p:cNvSpPr txBox="1"/>
          <p:nvPr/>
        </p:nvSpPr>
        <p:spPr>
          <a:xfrm>
            <a:off x="6016752" y="4142232"/>
            <a:ext cx="786384" cy="228600"/>
          </a:xfrm>
          <a:prstGeom prst="rect">
            <a:avLst/>
          </a:prstGeom>
          <a:noFill/>
          <a:ln/>
        </p:spPr>
        <p:txBody>
          <a:bodyPr wrap="square" lIns="0" tIns="0" rIns="0" bIns="0" rtlCol="0" anchor="t"/>
          <a:lstStyle/>
          <a:p>
            <a:pPr indent="0" marL="0">
              <a:buNone/>
            </a:pPr>
            <a:r>
              <a:rPr lang="en-US" sz="1000" dirty="0">
                <a:solidFill>
                  <a:srgbClr val="6C7B8A"/>
                </a:solidFill>
                <a:latin typeface="Calibri" pitchFamily="34" charset="0"/>
                <a:ea typeface="Calibri" pitchFamily="34" charset="-122"/>
                <a:cs typeface="Calibri" pitchFamily="34" charset="-120"/>
              </a:rPr>
              <a:t>következik</a:t>
            </a:r>
            <a:endParaRPr lang="en-US" sz="1000" dirty="0"/>
          </a:p>
        </p:txBody>
      </p:sp>
      <p:sp>
        <p:nvSpPr>
          <p:cNvPr id="50" name="szakasz E"/>
          <p:cNvSpPr/>
          <p:nvPr/>
        </p:nvSpPr>
        <p:spPr>
          <a:xfrm>
            <a:off x="6967728" y="3730752"/>
            <a:ext cx="1536192" cy="749808"/>
          </a:xfrm>
          <a:prstGeom prst="roundRect">
            <a:avLst>
              <a:gd name="adj" fmla="val 50000"/>
            </a:avLst>
          </a:prstGeom>
          <a:solidFill>
            <a:srgbClr val="FFFFFF"/>
          </a:solidFill>
          <a:ln w="12700">
            <a:solidFill>
              <a:srgbClr val="DAE1E9"/>
            </a:solidFill>
            <a:prstDash val="solid"/>
          </a:ln>
        </p:spPr>
      </p:sp>
      <p:sp>
        <p:nvSpPr>
          <p:cNvPr id="51" name="szakasz betű E"/>
          <p:cNvSpPr/>
          <p:nvPr/>
        </p:nvSpPr>
        <p:spPr>
          <a:xfrm>
            <a:off x="7077456" y="3858768"/>
            <a:ext cx="493776" cy="493776"/>
          </a:xfrm>
          <a:prstGeom prst="ellipse">
            <a:avLst/>
          </a:prstGeom>
          <a:solidFill>
            <a:srgbClr val="C9CFDA"/>
          </a:solidFill>
          <a:ln w="12700">
            <a:solidFill>
              <a:srgbClr val="C9CFDA"/>
            </a:solidFill>
            <a:prstDash val="solid"/>
          </a:ln>
        </p:spPr>
      </p:sp>
      <p:sp>
        <p:nvSpPr>
          <p:cNvPr id="52" name="Text 46"/>
          <p:cNvSpPr txBox="1"/>
          <p:nvPr/>
        </p:nvSpPr>
        <p:spPr>
          <a:xfrm>
            <a:off x="7077456" y="385876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E</a:t>
            </a:r>
            <a:endParaRPr lang="en-US" sz="1600" dirty="0"/>
          </a:p>
        </p:txBody>
      </p:sp>
      <p:sp>
        <p:nvSpPr>
          <p:cNvPr id="53" name="Text 47"/>
          <p:cNvSpPr txBox="1"/>
          <p:nvPr/>
        </p:nvSpPr>
        <p:spPr>
          <a:xfrm>
            <a:off x="7644384" y="3840480"/>
            <a:ext cx="786384" cy="329184"/>
          </a:xfrm>
          <a:prstGeom prst="rect">
            <a:avLst/>
          </a:prstGeom>
          <a:noFill/>
          <a:ln/>
        </p:spPr>
        <p:txBody>
          <a:bodyPr wrap="square" lIns="0" tIns="0" rIns="0" bIns="0" rtlCol="0" anchor="ctr"/>
          <a:lstStyle/>
          <a:p>
            <a:pPr indent="0" marL="0">
              <a:buNone/>
            </a:pPr>
            <a:r>
              <a:rPr lang="en-US" sz="1100" b="1" dirty="0">
                <a:solidFill>
                  <a:srgbClr val="283168"/>
                </a:solidFill>
                <a:latin typeface="Calibri" pitchFamily="34" charset="0"/>
                <a:ea typeface="Calibri" pitchFamily="34" charset="-122"/>
                <a:cs typeface="Calibri" pitchFamily="34" charset="-120"/>
              </a:rPr>
              <a:t>Teszt és bemutató</a:t>
            </a:r>
            <a:endParaRPr lang="en-US" sz="1100" dirty="0"/>
          </a:p>
        </p:txBody>
      </p:sp>
      <p:sp>
        <p:nvSpPr>
          <p:cNvPr id="54" name="Text 48"/>
          <p:cNvSpPr txBox="1"/>
          <p:nvPr/>
        </p:nvSpPr>
        <p:spPr>
          <a:xfrm>
            <a:off x="7644384" y="4142232"/>
            <a:ext cx="786384" cy="228600"/>
          </a:xfrm>
          <a:prstGeom prst="rect">
            <a:avLst/>
          </a:prstGeom>
          <a:noFill/>
          <a:ln/>
        </p:spPr>
        <p:txBody>
          <a:bodyPr wrap="square" lIns="0" tIns="0" rIns="0" bIns="0" rtlCol="0" anchor="t"/>
          <a:lstStyle/>
          <a:p>
            <a:pPr indent="0" marL="0">
              <a:buNone/>
            </a:pPr>
            <a:r>
              <a:rPr lang="en-US" sz="1000" dirty="0">
                <a:solidFill>
                  <a:srgbClr val="6C7B8A"/>
                </a:solidFill>
                <a:latin typeface="Calibri" pitchFamily="34" charset="0"/>
                <a:ea typeface="Calibri" pitchFamily="34" charset="-122"/>
                <a:cs typeface="Calibri" pitchFamily="34" charset="-120"/>
              </a:rPr>
              <a:t>következik</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1. állomás: a tartalom előbb, mint a képernyő</a:t>
            </a:r>
            <a:endParaRPr lang="en-US" sz="2600" dirty="0"/>
          </a:p>
        </p:txBody>
      </p:sp>
      <p:sp>
        <p:nvSpPr>
          <p:cNvPr id="3" name="Text 1"/>
          <p:cNvSpPr txBox="1"/>
          <p:nvPr/>
        </p:nvSpPr>
        <p:spPr>
          <a:xfrm>
            <a:off x="457200" y="868680"/>
            <a:ext cx="7680960" cy="320040"/>
          </a:xfrm>
          <a:prstGeom prst="rect">
            <a:avLst/>
          </a:prstGeom>
          <a:noFill/>
          <a:ln/>
        </p:spPr>
        <p:txBody>
          <a:bodyPr wrap="square" lIns="0" tIns="0" rIns="0" bIns="0" rtlCol="0" anchor="t"/>
          <a:lstStyle/>
          <a:p>
            <a:pPr indent="0" marL="0">
              <a:buNone/>
            </a:pPr>
            <a:r>
              <a:rPr lang="en-US" sz="1500" dirty="0">
                <a:solidFill>
                  <a:srgbClr val="4A545E"/>
                </a:solidFill>
                <a:latin typeface="Calibri" pitchFamily="34" charset="0"/>
                <a:ea typeface="Calibri" pitchFamily="34" charset="-122"/>
                <a:cs typeface="Calibri" pitchFamily="34" charset="-120"/>
              </a:rPr>
              <a:t>A mintaadatot és a szabályokat közösen alakítottuk ki – kód nélkül.</a:t>
            </a:r>
            <a:endParaRPr lang="en-US" sz="1500" dirty="0"/>
          </a:p>
        </p:txBody>
      </p:sp>
      <p:sp>
        <p:nvSpPr>
          <p:cNvPr id="4" name="Az én példáim"/>
          <p:cNvSpPr/>
          <p:nvPr/>
        </p:nvSpPr>
        <p:spPr>
          <a:xfrm>
            <a:off x="457200" y="1325880"/>
            <a:ext cx="2468880" cy="868680"/>
          </a:xfrm>
          <a:prstGeom prst="roundRect">
            <a:avLst>
              <a:gd name="adj" fmla="val 12632"/>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5" name="Az én példáim kör"/>
          <p:cNvSpPr/>
          <p:nvPr/>
        </p:nvSpPr>
        <p:spPr>
          <a:xfrm>
            <a:off x="594360" y="1481328"/>
            <a:ext cx="548640" cy="548640"/>
          </a:xfrm>
          <a:prstGeom prst="ellipse">
            <a:avLst/>
          </a:prstGeom>
          <a:solidFill>
            <a:srgbClr val="F3F3F9"/>
          </a:solidFill>
          <a:ln w="12700">
            <a:solidFill>
              <a:srgbClr val="F3F3F9"/>
            </a:solidFill>
            <a:prstDash val="solid"/>
          </a:ln>
        </p:spPr>
      </p:sp>
      <p:pic>
        <p:nvPicPr>
          <p:cNvPr id="6" name="Az én példáim ikon" descr="preencoded.png">    </p:cNvPr>
          <p:cNvPicPr>
            <a:picLocks noChangeAspect="1"/>
          </p:cNvPicPr>
          <p:nvPr/>
        </p:nvPicPr>
        <p:blipFill>
          <a:blip r:embed="rId1"/>
          <a:stretch>
            <a:fillRect/>
          </a:stretch>
        </p:blipFill>
        <p:spPr>
          <a:xfrm>
            <a:off x="731520" y="1618488"/>
            <a:ext cx="274320" cy="274320"/>
          </a:xfrm>
          <a:prstGeom prst="rect">
            <a:avLst/>
          </a:prstGeom>
        </p:spPr>
      </p:pic>
      <p:sp>
        <p:nvSpPr>
          <p:cNvPr id="7" name="Text 4"/>
          <p:cNvSpPr txBox="1"/>
          <p:nvPr/>
        </p:nvSpPr>
        <p:spPr>
          <a:xfrm>
            <a:off x="1280160" y="1463040"/>
            <a:ext cx="1554480" cy="274320"/>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Az én példáim</a:t>
            </a:r>
            <a:endParaRPr lang="en-US" sz="1400" dirty="0"/>
          </a:p>
        </p:txBody>
      </p:sp>
      <p:sp>
        <p:nvSpPr>
          <p:cNvPr id="8" name="Text 5"/>
          <p:cNvSpPr txBox="1"/>
          <p:nvPr/>
        </p:nvSpPr>
        <p:spPr>
          <a:xfrm>
            <a:off x="1280160" y="1737360"/>
            <a:ext cx="1554480" cy="411480"/>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tételtípusok, gyakori hívások, valós tételsor</a:t>
            </a:r>
            <a:endParaRPr lang="en-US" sz="1100" dirty="0"/>
          </a:p>
        </p:txBody>
      </p:sp>
      <p:sp>
        <p:nvSpPr>
          <p:cNvPr id="9" name="lánc nyíl 1"/>
          <p:cNvSpPr/>
          <p:nvPr/>
        </p:nvSpPr>
        <p:spPr>
          <a:xfrm>
            <a:off x="2980944" y="1645920"/>
            <a:ext cx="192024" cy="228600"/>
          </a:xfrm>
          <a:prstGeom prst="rightArrow">
            <a:avLst/>
          </a:prstGeom>
          <a:solidFill>
            <a:srgbClr val="45C396"/>
          </a:solidFill>
          <a:ln w="12700">
            <a:solidFill>
              <a:srgbClr val="45C396"/>
            </a:solidFill>
            <a:prstDash val="solid"/>
          </a:ln>
        </p:spPr>
      </p:sp>
      <p:sp>
        <p:nvSpPr>
          <p:cNvPr id="10" name="AI javaslat"/>
          <p:cNvSpPr/>
          <p:nvPr/>
        </p:nvSpPr>
        <p:spPr>
          <a:xfrm>
            <a:off x="3227832" y="1325880"/>
            <a:ext cx="2468880" cy="868680"/>
          </a:xfrm>
          <a:prstGeom prst="roundRect">
            <a:avLst>
              <a:gd name="adj" fmla="val 12632"/>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1" name="AI javaslat kör"/>
          <p:cNvSpPr/>
          <p:nvPr/>
        </p:nvSpPr>
        <p:spPr>
          <a:xfrm>
            <a:off x="3364992" y="1481328"/>
            <a:ext cx="548640" cy="548640"/>
          </a:xfrm>
          <a:prstGeom prst="ellipse">
            <a:avLst/>
          </a:prstGeom>
          <a:solidFill>
            <a:srgbClr val="F3F3F9"/>
          </a:solidFill>
          <a:ln w="12700">
            <a:solidFill>
              <a:srgbClr val="F3F3F9"/>
            </a:solidFill>
            <a:prstDash val="solid"/>
          </a:ln>
        </p:spPr>
      </p:sp>
      <p:pic>
        <p:nvPicPr>
          <p:cNvPr id="12" name="AI javaslat ikon" descr="preencoded.png">    </p:cNvPr>
          <p:cNvPicPr>
            <a:picLocks noChangeAspect="1"/>
          </p:cNvPicPr>
          <p:nvPr/>
        </p:nvPicPr>
        <p:blipFill>
          <a:blip r:embed="rId2"/>
          <a:stretch>
            <a:fillRect/>
          </a:stretch>
        </p:blipFill>
        <p:spPr>
          <a:xfrm>
            <a:off x="3502152" y="1618488"/>
            <a:ext cx="274320" cy="274320"/>
          </a:xfrm>
          <a:prstGeom prst="rect">
            <a:avLst/>
          </a:prstGeom>
        </p:spPr>
      </p:pic>
      <p:sp>
        <p:nvSpPr>
          <p:cNvPr id="13" name="Text 9"/>
          <p:cNvSpPr txBox="1"/>
          <p:nvPr/>
        </p:nvSpPr>
        <p:spPr>
          <a:xfrm>
            <a:off x="4050792" y="1463040"/>
            <a:ext cx="1554480" cy="274320"/>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AI javaslat</a:t>
            </a:r>
            <a:endParaRPr lang="en-US" sz="1400" dirty="0"/>
          </a:p>
        </p:txBody>
      </p:sp>
      <p:sp>
        <p:nvSpPr>
          <p:cNvPr id="14" name="Text 10"/>
          <p:cNvSpPr txBox="1"/>
          <p:nvPr/>
        </p:nvSpPr>
        <p:spPr>
          <a:xfrm>
            <a:off x="4050792" y="1737360"/>
            <a:ext cx="1554480" cy="411480"/>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katalógus, adatmodell, nyitott kérdések</a:t>
            </a:r>
            <a:endParaRPr lang="en-US" sz="1100" dirty="0"/>
          </a:p>
        </p:txBody>
      </p:sp>
      <p:sp>
        <p:nvSpPr>
          <p:cNvPr id="15" name="lánc nyíl 2"/>
          <p:cNvSpPr/>
          <p:nvPr/>
        </p:nvSpPr>
        <p:spPr>
          <a:xfrm>
            <a:off x="5751576" y="1645920"/>
            <a:ext cx="192024" cy="228600"/>
          </a:xfrm>
          <a:prstGeom prst="rightArrow">
            <a:avLst/>
          </a:prstGeom>
          <a:solidFill>
            <a:srgbClr val="45C396"/>
          </a:solidFill>
          <a:ln w="12700">
            <a:solidFill>
              <a:srgbClr val="45C396"/>
            </a:solidFill>
            <a:prstDash val="solid"/>
          </a:ln>
        </p:spPr>
      </p:sp>
      <p:sp>
        <p:nvSpPr>
          <p:cNvPr id="16" name="Döntés"/>
          <p:cNvSpPr/>
          <p:nvPr/>
        </p:nvSpPr>
        <p:spPr>
          <a:xfrm>
            <a:off x="5998464" y="1325880"/>
            <a:ext cx="2468880" cy="868680"/>
          </a:xfrm>
          <a:prstGeom prst="roundRect">
            <a:avLst>
              <a:gd name="adj" fmla="val 12632"/>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7" name="Döntés kör"/>
          <p:cNvSpPr/>
          <p:nvPr/>
        </p:nvSpPr>
        <p:spPr>
          <a:xfrm>
            <a:off x="6135624" y="1481328"/>
            <a:ext cx="548640" cy="548640"/>
          </a:xfrm>
          <a:prstGeom prst="ellipse">
            <a:avLst/>
          </a:prstGeom>
          <a:solidFill>
            <a:srgbClr val="F3F3F9"/>
          </a:solidFill>
          <a:ln w="12700">
            <a:solidFill>
              <a:srgbClr val="F3F3F9"/>
            </a:solidFill>
            <a:prstDash val="solid"/>
          </a:ln>
        </p:spPr>
      </p:sp>
      <p:pic>
        <p:nvPicPr>
          <p:cNvPr id="18" name="Döntés ikon" descr="preencoded.png">    </p:cNvPr>
          <p:cNvPicPr>
            <a:picLocks noChangeAspect="1"/>
          </p:cNvPicPr>
          <p:nvPr/>
        </p:nvPicPr>
        <p:blipFill>
          <a:blip r:embed="rId3"/>
          <a:stretch>
            <a:fillRect/>
          </a:stretch>
        </p:blipFill>
        <p:spPr>
          <a:xfrm>
            <a:off x="6272784" y="1618488"/>
            <a:ext cx="274320" cy="274320"/>
          </a:xfrm>
          <a:prstGeom prst="rect">
            <a:avLst/>
          </a:prstGeom>
        </p:spPr>
      </p:pic>
      <p:sp>
        <p:nvSpPr>
          <p:cNvPr id="19" name="Text 14"/>
          <p:cNvSpPr txBox="1"/>
          <p:nvPr/>
        </p:nvSpPr>
        <p:spPr>
          <a:xfrm>
            <a:off x="6821424" y="1463040"/>
            <a:ext cx="1554480" cy="274320"/>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Döntés</a:t>
            </a:r>
            <a:endParaRPr lang="en-US" sz="1400" dirty="0"/>
          </a:p>
        </p:txBody>
      </p:sp>
      <p:sp>
        <p:nvSpPr>
          <p:cNvPr id="20" name="Text 15"/>
          <p:cNvSpPr txBox="1"/>
          <p:nvPr/>
        </p:nvSpPr>
        <p:spPr>
          <a:xfrm>
            <a:off x="6821424" y="1737360"/>
            <a:ext cx="1554480" cy="411480"/>
          </a:xfrm>
          <a:prstGeom prst="rect">
            <a:avLst/>
          </a:prstGeom>
          <a:noFill/>
          <a:ln/>
        </p:spPr>
        <p:txBody>
          <a:bodyPr wrap="square" lIns="0" tIns="0" rIns="0" bIns="0" rtlCol="0" anchor="t"/>
          <a:lstStyle/>
          <a:p>
            <a:pPr indent="0" marL="0">
              <a:buNone/>
            </a:pPr>
            <a:r>
              <a:rPr lang="en-US" sz="1100" dirty="0">
                <a:solidFill>
                  <a:srgbClr val="6C7B8A"/>
                </a:solidFill>
                <a:latin typeface="Calibri" pitchFamily="34" charset="0"/>
                <a:ea typeface="Calibri" pitchFamily="34" charset="-122"/>
                <a:cs typeface="Calibri" pitchFamily="34" charset="-120"/>
              </a:rPr>
              <a:t>jóváhagyás vagy módosítás</a:t>
            </a:r>
            <a:endParaRPr lang="en-US" sz="1100" dirty="0"/>
          </a:p>
        </p:txBody>
      </p:sp>
      <p:sp>
        <p:nvSpPr>
          <p:cNvPr id="21" name="Text 16"/>
          <p:cNvSpPr txBox="1"/>
          <p:nvPr/>
        </p:nvSpPr>
        <p:spPr>
          <a:xfrm>
            <a:off x="457200" y="2423160"/>
            <a:ext cx="3657600" cy="274320"/>
          </a:xfrm>
          <a:prstGeom prst="rect">
            <a:avLst/>
          </a:prstGeom>
          <a:noFill/>
          <a:ln/>
        </p:spPr>
        <p:txBody>
          <a:bodyPr wrap="square" lIns="0" tIns="0" rIns="0" bIns="0" rtlCol="0" anchor="t"/>
          <a:lstStyle/>
          <a:p>
            <a:pPr indent="0" marL="0">
              <a:buNone/>
            </a:pPr>
            <a:r>
              <a:rPr lang="en-US" sz="1300" b="1" dirty="0">
                <a:solidFill>
                  <a:srgbClr val="283168"/>
                </a:solidFill>
                <a:latin typeface="Century Gothic" pitchFamily="34" charset="0"/>
                <a:ea typeface="Century Gothic" pitchFamily="34" charset="-122"/>
                <a:cs typeface="Century Gothic" pitchFamily="34" charset="-120"/>
              </a:rPr>
              <a:t>Elkészült anyagok</a:t>
            </a:r>
            <a:endParaRPr lang="en-US" sz="1300" dirty="0"/>
          </a:p>
        </p:txBody>
      </p:sp>
      <p:sp>
        <p:nvSpPr>
          <p:cNvPr id="22" name="anyag 1"/>
          <p:cNvSpPr/>
          <p:nvPr/>
        </p:nvSpPr>
        <p:spPr>
          <a:xfrm>
            <a:off x="457200" y="2788920"/>
            <a:ext cx="3749040" cy="365760"/>
          </a:xfrm>
          <a:prstGeom prst="roundRect">
            <a:avLst>
              <a:gd name="adj" fmla="val 50000"/>
            </a:avLst>
          </a:prstGeom>
          <a:solidFill>
            <a:srgbClr val="FFFFFF"/>
          </a:solidFill>
          <a:ln w="9525">
            <a:solidFill>
              <a:srgbClr val="DAE1E9"/>
            </a:solidFill>
            <a:prstDash val="solid"/>
          </a:ln>
        </p:spPr>
      </p:sp>
      <p:pic>
        <p:nvPicPr>
          <p:cNvPr id="23" name="dokumentum ikon 1" descr="preencoded.png">    </p:cNvPr>
          <p:cNvPicPr>
            <a:picLocks noChangeAspect="1"/>
          </p:cNvPicPr>
          <p:nvPr/>
        </p:nvPicPr>
        <p:blipFill>
          <a:blip r:embed="rId4"/>
          <a:stretch>
            <a:fillRect/>
          </a:stretch>
        </p:blipFill>
        <p:spPr>
          <a:xfrm>
            <a:off x="594360" y="2862072"/>
            <a:ext cx="219456" cy="219456"/>
          </a:xfrm>
          <a:prstGeom prst="rect">
            <a:avLst/>
          </a:prstGeom>
        </p:spPr>
      </p:pic>
      <p:sp>
        <p:nvSpPr>
          <p:cNvPr id="24" name="Text 18"/>
          <p:cNvSpPr txBox="1"/>
          <p:nvPr/>
        </p:nvSpPr>
        <p:spPr>
          <a:xfrm>
            <a:off x="932688" y="2834640"/>
            <a:ext cx="3200400" cy="274320"/>
          </a:xfrm>
          <a:prstGeom prst="rect">
            <a:avLst/>
          </a:prstGeom>
          <a:noFill/>
          <a:ln/>
        </p:spPr>
        <p:txBody>
          <a:bodyPr wrap="square" lIns="0" tIns="0" rIns="0" bIns="0" rtlCol="0" anchor="ctr"/>
          <a:lstStyle/>
          <a:p>
            <a:pPr indent="0" marL="0">
              <a:buNone/>
            </a:pPr>
            <a:r>
              <a:rPr lang="en-US" sz="1300" dirty="0">
                <a:solidFill>
                  <a:srgbClr val="30373D"/>
                </a:solidFill>
                <a:latin typeface="Calibri" pitchFamily="34" charset="0"/>
                <a:ea typeface="Calibri" pitchFamily="34" charset="-122"/>
                <a:cs typeface="Calibri" pitchFamily="34" charset="-120"/>
              </a:rPr>
              <a:t>Tételtípus-katalógus</a:t>
            </a:r>
            <a:endParaRPr lang="en-US" sz="1300" dirty="0"/>
          </a:p>
        </p:txBody>
      </p:sp>
      <p:sp>
        <p:nvSpPr>
          <p:cNvPr id="25" name="anyag 2"/>
          <p:cNvSpPr/>
          <p:nvPr/>
        </p:nvSpPr>
        <p:spPr>
          <a:xfrm>
            <a:off x="457200" y="3246120"/>
            <a:ext cx="3749040" cy="365760"/>
          </a:xfrm>
          <a:prstGeom prst="roundRect">
            <a:avLst>
              <a:gd name="adj" fmla="val 50000"/>
            </a:avLst>
          </a:prstGeom>
          <a:solidFill>
            <a:srgbClr val="FFFFFF"/>
          </a:solidFill>
          <a:ln w="9525">
            <a:solidFill>
              <a:srgbClr val="DAE1E9"/>
            </a:solidFill>
            <a:prstDash val="solid"/>
          </a:ln>
        </p:spPr>
      </p:sp>
      <p:pic>
        <p:nvPicPr>
          <p:cNvPr id="26" name="dokumentum ikon 2" descr="preencoded.png">    </p:cNvPr>
          <p:cNvPicPr>
            <a:picLocks noChangeAspect="1"/>
          </p:cNvPicPr>
          <p:nvPr/>
        </p:nvPicPr>
        <p:blipFill>
          <a:blip r:embed="rId5"/>
          <a:stretch>
            <a:fillRect/>
          </a:stretch>
        </p:blipFill>
        <p:spPr>
          <a:xfrm>
            <a:off x="594360" y="3319272"/>
            <a:ext cx="219456" cy="219456"/>
          </a:xfrm>
          <a:prstGeom prst="rect">
            <a:avLst/>
          </a:prstGeom>
        </p:spPr>
      </p:pic>
      <p:sp>
        <p:nvSpPr>
          <p:cNvPr id="27" name="Text 20"/>
          <p:cNvSpPr txBox="1"/>
          <p:nvPr/>
        </p:nvSpPr>
        <p:spPr>
          <a:xfrm>
            <a:off x="932688" y="3291840"/>
            <a:ext cx="3200400" cy="274320"/>
          </a:xfrm>
          <a:prstGeom prst="rect">
            <a:avLst/>
          </a:prstGeom>
          <a:noFill/>
          <a:ln/>
        </p:spPr>
        <p:txBody>
          <a:bodyPr wrap="square" lIns="0" tIns="0" rIns="0" bIns="0" rtlCol="0" anchor="ctr"/>
          <a:lstStyle/>
          <a:p>
            <a:pPr indent="0" marL="0">
              <a:buNone/>
            </a:pPr>
            <a:r>
              <a:rPr lang="en-US" sz="1300" dirty="0">
                <a:solidFill>
                  <a:srgbClr val="30373D"/>
                </a:solidFill>
                <a:latin typeface="Calibri" pitchFamily="34" charset="0"/>
                <a:ea typeface="Calibri" pitchFamily="34" charset="-122"/>
                <a:cs typeface="Calibri" pitchFamily="34" charset="-120"/>
              </a:rPr>
              <a:t>Adatmodell</a:t>
            </a:r>
            <a:endParaRPr lang="en-US" sz="1300" dirty="0"/>
          </a:p>
        </p:txBody>
      </p:sp>
      <p:sp>
        <p:nvSpPr>
          <p:cNvPr id="28" name="anyag 3"/>
          <p:cNvSpPr/>
          <p:nvPr/>
        </p:nvSpPr>
        <p:spPr>
          <a:xfrm>
            <a:off x="457200" y="3703320"/>
            <a:ext cx="3749040" cy="365760"/>
          </a:xfrm>
          <a:prstGeom prst="roundRect">
            <a:avLst>
              <a:gd name="adj" fmla="val 50000"/>
            </a:avLst>
          </a:prstGeom>
          <a:solidFill>
            <a:srgbClr val="FFFFFF"/>
          </a:solidFill>
          <a:ln w="9525">
            <a:solidFill>
              <a:srgbClr val="DAE1E9"/>
            </a:solidFill>
            <a:prstDash val="solid"/>
          </a:ln>
        </p:spPr>
      </p:sp>
      <p:pic>
        <p:nvPicPr>
          <p:cNvPr id="29" name="dokumentum ikon 3" descr="preencoded.png">    </p:cNvPr>
          <p:cNvPicPr>
            <a:picLocks noChangeAspect="1"/>
          </p:cNvPicPr>
          <p:nvPr/>
        </p:nvPicPr>
        <p:blipFill>
          <a:blip r:embed="rId6"/>
          <a:stretch>
            <a:fillRect/>
          </a:stretch>
        </p:blipFill>
        <p:spPr>
          <a:xfrm>
            <a:off x="594360" y="3776472"/>
            <a:ext cx="219456" cy="219456"/>
          </a:xfrm>
          <a:prstGeom prst="rect">
            <a:avLst/>
          </a:prstGeom>
        </p:spPr>
      </p:pic>
      <p:sp>
        <p:nvSpPr>
          <p:cNvPr id="30" name="Text 22"/>
          <p:cNvSpPr txBox="1"/>
          <p:nvPr/>
        </p:nvSpPr>
        <p:spPr>
          <a:xfrm>
            <a:off x="932688" y="3749040"/>
            <a:ext cx="3200400" cy="274320"/>
          </a:xfrm>
          <a:prstGeom prst="rect">
            <a:avLst/>
          </a:prstGeom>
          <a:noFill/>
          <a:ln/>
        </p:spPr>
        <p:txBody>
          <a:bodyPr wrap="square" lIns="0" tIns="0" rIns="0" bIns="0" rtlCol="0" anchor="ctr"/>
          <a:lstStyle/>
          <a:p>
            <a:pPr indent="0" marL="0">
              <a:buNone/>
            </a:pPr>
            <a:r>
              <a:rPr lang="en-US" sz="1300" dirty="0">
                <a:solidFill>
                  <a:srgbClr val="30373D"/>
                </a:solidFill>
                <a:latin typeface="Calibri" pitchFamily="34" charset="0"/>
                <a:ea typeface="Calibri" pitchFamily="34" charset="-122"/>
                <a:cs typeface="Calibri" pitchFamily="34" charset="-120"/>
              </a:rPr>
              <a:t>Láthatósági mátrix (ügyfél / ügyintéző)</a:t>
            </a:r>
            <a:endParaRPr lang="en-US" sz="1300" dirty="0"/>
          </a:p>
        </p:txBody>
      </p:sp>
      <p:sp>
        <p:nvSpPr>
          <p:cNvPr id="31" name="anyag 4"/>
          <p:cNvSpPr/>
          <p:nvPr/>
        </p:nvSpPr>
        <p:spPr>
          <a:xfrm>
            <a:off x="457200" y="4160520"/>
            <a:ext cx="3749040" cy="365760"/>
          </a:xfrm>
          <a:prstGeom prst="roundRect">
            <a:avLst>
              <a:gd name="adj" fmla="val 50000"/>
            </a:avLst>
          </a:prstGeom>
          <a:solidFill>
            <a:srgbClr val="FFFFFF"/>
          </a:solidFill>
          <a:ln w="9525">
            <a:solidFill>
              <a:srgbClr val="DAE1E9"/>
            </a:solidFill>
            <a:prstDash val="solid"/>
          </a:ln>
        </p:spPr>
      </p:sp>
      <p:pic>
        <p:nvPicPr>
          <p:cNvPr id="32" name="dokumentum ikon 4" descr="preencoded.png">    </p:cNvPr>
          <p:cNvPicPr>
            <a:picLocks noChangeAspect="1"/>
          </p:cNvPicPr>
          <p:nvPr/>
        </p:nvPicPr>
        <p:blipFill>
          <a:blip r:embed="rId7"/>
          <a:stretch>
            <a:fillRect/>
          </a:stretch>
        </p:blipFill>
        <p:spPr>
          <a:xfrm>
            <a:off x="594360" y="4233672"/>
            <a:ext cx="219456" cy="219456"/>
          </a:xfrm>
          <a:prstGeom prst="rect">
            <a:avLst/>
          </a:prstGeom>
        </p:spPr>
      </p:pic>
      <p:sp>
        <p:nvSpPr>
          <p:cNvPr id="33" name="Text 24"/>
          <p:cNvSpPr txBox="1"/>
          <p:nvPr/>
        </p:nvSpPr>
        <p:spPr>
          <a:xfrm>
            <a:off x="932688" y="4206240"/>
            <a:ext cx="3200400" cy="274320"/>
          </a:xfrm>
          <a:prstGeom prst="rect">
            <a:avLst/>
          </a:prstGeom>
          <a:noFill/>
          <a:ln/>
        </p:spPr>
        <p:txBody>
          <a:bodyPr wrap="square" lIns="0" tIns="0" rIns="0" bIns="0" rtlCol="0" anchor="ctr"/>
          <a:lstStyle/>
          <a:p>
            <a:pPr indent="0" marL="0">
              <a:buNone/>
            </a:pPr>
            <a:r>
              <a:rPr lang="en-US" sz="1300" dirty="0">
                <a:solidFill>
                  <a:srgbClr val="30373D"/>
                </a:solidFill>
                <a:latin typeface="Calibri" pitchFamily="34" charset="0"/>
                <a:ea typeface="Calibri" pitchFamily="34" charset="-122"/>
                <a:cs typeface="Calibri" pitchFamily="34" charset="-120"/>
              </a:rPr>
              <a:t>4 forgatókönyv + feltételezések</a:t>
            </a:r>
            <a:endParaRPr lang="en-US" sz="1300" dirty="0"/>
          </a:p>
        </p:txBody>
      </p:sp>
      <p:sp>
        <p:nvSpPr>
          <p:cNvPr id="34" name="döntések kártya"/>
          <p:cNvSpPr/>
          <p:nvPr/>
        </p:nvSpPr>
        <p:spPr>
          <a:xfrm>
            <a:off x="4480560" y="2423160"/>
            <a:ext cx="4206240" cy="2194560"/>
          </a:xfrm>
          <a:prstGeom prst="roundRect">
            <a:avLst>
              <a:gd name="adj" fmla="val 5000"/>
            </a:avLst>
          </a:prstGeom>
          <a:solidFill>
            <a:srgbClr val="FFF4D6"/>
          </a:solidFill>
          <a:ln w="9525">
            <a:solidFill>
              <a:srgbClr val="F0D58A"/>
            </a:solidFill>
            <a:prstDash val="solid"/>
          </a:ln>
          <a:effectLst>
            <a:outerShdw sx="100000" sy="100000" kx="0" ky="0" algn="bl" rotWithShape="0" blurRad="76200" dist="25400" dir="5400000">
              <a:srgbClr val="283168">
                <a:alpha val="8000"/>
              </a:srgbClr>
            </a:outerShdw>
          </a:effectLst>
        </p:spPr>
      </p:sp>
      <p:sp>
        <p:nvSpPr>
          <p:cNvPr id="35" name="Text 26"/>
          <p:cNvSpPr txBox="1"/>
          <p:nvPr/>
        </p:nvSpPr>
        <p:spPr>
          <a:xfrm>
            <a:off x="4709160" y="2560320"/>
            <a:ext cx="3840480" cy="274320"/>
          </a:xfrm>
          <a:prstGeom prst="rect">
            <a:avLst/>
          </a:prstGeom>
          <a:noFill/>
          <a:ln/>
        </p:spPr>
        <p:txBody>
          <a:bodyPr wrap="square" lIns="0" tIns="0" rIns="0" bIns="0" rtlCol="0" anchor="t"/>
          <a:lstStyle/>
          <a:p>
            <a:pPr indent="0" marL="0">
              <a:buNone/>
            </a:pPr>
            <a:r>
              <a:rPr lang="en-US" sz="1300" b="1" dirty="0">
                <a:solidFill>
                  <a:srgbClr val="8A5A00"/>
                </a:solidFill>
                <a:latin typeface="Century Gothic" pitchFamily="34" charset="0"/>
                <a:ea typeface="Century Gothic" pitchFamily="34" charset="-122"/>
                <a:cs typeface="Century Gothic" pitchFamily="34" charset="-120"/>
              </a:rPr>
              <a:t>Példák az emberi döntésekre</a:t>
            </a:r>
            <a:endParaRPr lang="en-US" sz="1300" dirty="0"/>
          </a:p>
        </p:txBody>
      </p:sp>
      <p:sp>
        <p:nvSpPr>
          <p:cNvPr id="36" name="Text 27"/>
          <p:cNvSpPr txBox="1"/>
          <p:nvPr/>
        </p:nvSpPr>
        <p:spPr>
          <a:xfrm>
            <a:off x="4709160" y="2926080"/>
            <a:ext cx="384048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0373D"/>
                </a:solidFill>
                <a:latin typeface="Calibri" pitchFamily="34" charset="0"/>
                <a:ea typeface="Calibri" pitchFamily="34" charset="-122"/>
                <a:cs typeface="Calibri" pitchFamily="34" charset="-120"/>
              </a:rPr>
              <a:t>A díjváltozás esemény legyen, ne külön tétel</a:t>
            </a:r>
            <a:endParaRPr lang="en-US" sz="1300" dirty="0"/>
          </a:p>
          <a:p>
            <a:pPr marL="342900" indent="-342900">
              <a:spcAft>
                <a:spcPts val="600"/>
              </a:spcAft>
              <a:buSzPct val="100000"/>
              <a:buChar char="•"/>
            </a:pPr>
            <a:r>
              <a:rPr lang="en-US" sz="1300" dirty="0">
                <a:solidFill>
                  <a:srgbClr val="30373D"/>
                </a:solidFill>
                <a:latin typeface="Calibri" pitchFamily="34" charset="0"/>
                <a:ea typeface="Calibri" pitchFamily="34" charset="-122"/>
                <a:cs typeface="Calibri" pitchFamily="34" charset="-120"/>
              </a:rPr>
              <a:t>A visszautalás átfutása: 3 munkanap</a:t>
            </a:r>
            <a:endParaRPr lang="en-US" sz="1300" dirty="0"/>
          </a:p>
          <a:p>
            <a:pPr marL="342900" indent="-342900">
              <a:spcAft>
                <a:spcPts val="600"/>
              </a:spcAft>
              <a:buSzPct val="100000"/>
              <a:buChar char="•"/>
            </a:pPr>
            <a:r>
              <a:rPr lang="en-US" sz="1300" dirty="0">
                <a:solidFill>
                  <a:srgbClr val="30373D"/>
                </a:solidFill>
                <a:latin typeface="Calibri" pitchFamily="34" charset="0"/>
                <a:ea typeface="Calibri" pitchFamily="34" charset="-122"/>
                <a:cs typeface="Calibri" pitchFamily="34" charset="-120"/>
              </a:rPr>
              <a:t>A bankszámlaszám ne legyen maszkolva</a:t>
            </a:r>
            <a:endParaRPr lang="en-US" sz="1300" dirty="0"/>
          </a:p>
          <a:p>
            <a:pPr marL="342900" indent="-342900">
              <a:spcAft>
                <a:spcPts val="600"/>
              </a:spcAft>
              <a:buSzPct val="100000"/>
              <a:buChar char="•"/>
            </a:pPr>
            <a:r>
              <a:rPr lang="en-US" sz="1300" dirty="0">
                <a:solidFill>
                  <a:srgbClr val="30373D"/>
                </a:solidFill>
                <a:latin typeface="Calibri" pitchFamily="34" charset="0"/>
                <a:ea typeface="Calibri" pitchFamily="34" charset="-122"/>
                <a:cs typeface="Calibri" pitchFamily="34" charset="-120"/>
              </a:rPr>
              <a:t>A várható megszűnést az ügyfél ne lássa – e-mailt kap róla</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2. állomás: működő alapok, ellenőrizhetően</a:t>
            </a:r>
            <a:endParaRPr lang="en-US" sz="2600" dirty="0"/>
          </a:p>
        </p:txBody>
      </p:sp>
      <p:sp>
        <p:nvSpPr>
          <p:cNvPr id="3" name="Text 1"/>
          <p:cNvSpPr txBox="1"/>
          <p:nvPr/>
        </p:nvSpPr>
        <p:spPr>
          <a:xfrm>
            <a:off x="457200" y="868680"/>
            <a:ext cx="7680960" cy="320040"/>
          </a:xfrm>
          <a:prstGeom prst="rect">
            <a:avLst/>
          </a:prstGeom>
          <a:noFill/>
          <a:ln/>
        </p:spPr>
        <p:txBody>
          <a:bodyPr wrap="square" lIns="0" tIns="0" rIns="0" bIns="0" rtlCol="0" anchor="t"/>
          <a:lstStyle/>
          <a:p>
            <a:pPr indent="0" marL="0">
              <a:buNone/>
            </a:pPr>
            <a:r>
              <a:rPr lang="en-US" sz="1500" dirty="0">
                <a:solidFill>
                  <a:srgbClr val="4A545E"/>
                </a:solidFill>
                <a:latin typeface="Calibri" pitchFamily="34" charset="0"/>
                <a:ea typeface="Calibri" pitchFamily="34" charset="-122"/>
                <a:cs typeface="Calibri" pitchFamily="34" charset="-120"/>
              </a:rPr>
              <a:t>A látható felület előtt elkészült minden, amire épülni fog.</a:t>
            </a:r>
            <a:endParaRPr lang="en-US" sz="1500" dirty="0"/>
          </a:p>
        </p:txBody>
      </p:sp>
      <p:sp>
        <p:nvSpPr>
          <p:cNvPr id="4" name="Fejlesztői környezet kör"/>
          <p:cNvSpPr/>
          <p:nvPr/>
        </p:nvSpPr>
        <p:spPr>
          <a:xfrm>
            <a:off x="457200" y="1325880"/>
            <a:ext cx="475488" cy="475488"/>
          </a:xfrm>
          <a:prstGeom prst="ellipse">
            <a:avLst/>
          </a:prstGeom>
          <a:solidFill>
            <a:srgbClr val="F3F3F9"/>
          </a:solidFill>
          <a:ln w="12700">
            <a:solidFill>
              <a:srgbClr val="F3F3F9"/>
            </a:solidFill>
            <a:prstDash val="solid"/>
          </a:ln>
        </p:spPr>
      </p:sp>
      <p:pic>
        <p:nvPicPr>
          <p:cNvPr id="5" name="Fejlesztői környezet ikon" descr="preencoded.png">    </p:cNvPr>
          <p:cNvPicPr>
            <a:picLocks noChangeAspect="1"/>
          </p:cNvPicPr>
          <p:nvPr/>
        </p:nvPicPr>
        <p:blipFill>
          <a:blip r:embed="rId1"/>
          <a:stretch>
            <a:fillRect/>
          </a:stretch>
        </p:blipFill>
        <p:spPr>
          <a:xfrm>
            <a:off x="576072" y="1444752"/>
            <a:ext cx="237744" cy="237744"/>
          </a:xfrm>
          <a:prstGeom prst="rect">
            <a:avLst/>
          </a:prstGeom>
        </p:spPr>
      </p:pic>
      <p:sp>
        <p:nvSpPr>
          <p:cNvPr id="6" name="Text 3"/>
          <p:cNvSpPr txBox="1"/>
          <p:nvPr/>
        </p:nvSpPr>
        <p:spPr>
          <a:xfrm>
            <a:off x="1097280" y="1307592"/>
            <a:ext cx="402336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Fejlesztői környezet</a:t>
            </a:r>
            <a:endParaRPr lang="en-US" sz="1400" dirty="0"/>
          </a:p>
        </p:txBody>
      </p:sp>
      <p:sp>
        <p:nvSpPr>
          <p:cNvPr id="7" name="Text 4"/>
          <p:cNvSpPr txBox="1"/>
          <p:nvPr/>
        </p:nvSpPr>
        <p:spPr>
          <a:xfrm>
            <a:off x="1097280" y="1563624"/>
            <a:ext cx="4206240" cy="27432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Az AI telepítette a szükséges eszközöket és létrehozta a projektet</a:t>
            </a:r>
            <a:endParaRPr lang="en-US" sz="1200" dirty="0"/>
          </a:p>
        </p:txBody>
      </p:sp>
      <p:sp>
        <p:nvSpPr>
          <p:cNvPr id="8" name="Arculat kör"/>
          <p:cNvSpPr/>
          <p:nvPr/>
        </p:nvSpPr>
        <p:spPr>
          <a:xfrm>
            <a:off x="457200" y="1984248"/>
            <a:ext cx="475488" cy="475488"/>
          </a:xfrm>
          <a:prstGeom prst="ellipse">
            <a:avLst/>
          </a:prstGeom>
          <a:solidFill>
            <a:srgbClr val="F3F3F9"/>
          </a:solidFill>
          <a:ln w="12700">
            <a:solidFill>
              <a:srgbClr val="F3F3F9"/>
            </a:solidFill>
            <a:prstDash val="solid"/>
          </a:ln>
        </p:spPr>
      </p:sp>
      <p:pic>
        <p:nvPicPr>
          <p:cNvPr id="9" name="Arculat ikon" descr="preencoded.png">    </p:cNvPr>
          <p:cNvPicPr>
            <a:picLocks noChangeAspect="1"/>
          </p:cNvPicPr>
          <p:nvPr/>
        </p:nvPicPr>
        <p:blipFill>
          <a:blip r:embed="rId2"/>
          <a:stretch>
            <a:fillRect/>
          </a:stretch>
        </p:blipFill>
        <p:spPr>
          <a:xfrm>
            <a:off x="576072" y="2103120"/>
            <a:ext cx="237744" cy="237744"/>
          </a:xfrm>
          <a:prstGeom prst="rect">
            <a:avLst/>
          </a:prstGeom>
        </p:spPr>
      </p:pic>
      <p:sp>
        <p:nvSpPr>
          <p:cNvPr id="10" name="Text 6"/>
          <p:cNvSpPr txBox="1"/>
          <p:nvPr/>
        </p:nvSpPr>
        <p:spPr>
          <a:xfrm>
            <a:off x="1097280" y="1965960"/>
            <a:ext cx="402336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Arculat</a:t>
            </a:r>
            <a:endParaRPr lang="en-US" sz="1400" dirty="0"/>
          </a:p>
        </p:txBody>
      </p:sp>
      <p:sp>
        <p:nvSpPr>
          <p:cNvPr id="11" name="Text 7"/>
          <p:cNvSpPr txBox="1"/>
          <p:nvPr/>
        </p:nvSpPr>
        <p:spPr>
          <a:xfrm>
            <a:off x="1097280" y="2221992"/>
            <a:ext cx="4206240" cy="27432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Színek, formák, gombstílus a groupama.hu nyilvános oldaláról</a:t>
            </a:r>
            <a:endParaRPr lang="en-US" sz="1200" dirty="0"/>
          </a:p>
        </p:txBody>
      </p:sp>
      <p:sp>
        <p:nvSpPr>
          <p:cNvPr id="12" name="Adatréteg kör"/>
          <p:cNvSpPr/>
          <p:nvPr/>
        </p:nvSpPr>
        <p:spPr>
          <a:xfrm>
            <a:off x="457200" y="2642616"/>
            <a:ext cx="475488" cy="475488"/>
          </a:xfrm>
          <a:prstGeom prst="ellipse">
            <a:avLst/>
          </a:prstGeom>
          <a:solidFill>
            <a:srgbClr val="F3F3F9"/>
          </a:solidFill>
          <a:ln w="12700">
            <a:solidFill>
              <a:srgbClr val="F3F3F9"/>
            </a:solidFill>
            <a:prstDash val="solid"/>
          </a:ln>
        </p:spPr>
      </p:sp>
      <p:pic>
        <p:nvPicPr>
          <p:cNvPr id="13" name="Adatréteg ikon" descr="preencoded.png">    </p:cNvPr>
          <p:cNvPicPr>
            <a:picLocks noChangeAspect="1"/>
          </p:cNvPicPr>
          <p:nvPr/>
        </p:nvPicPr>
        <p:blipFill>
          <a:blip r:embed="rId3"/>
          <a:stretch>
            <a:fillRect/>
          </a:stretch>
        </p:blipFill>
        <p:spPr>
          <a:xfrm>
            <a:off x="576072" y="2761488"/>
            <a:ext cx="237744" cy="237744"/>
          </a:xfrm>
          <a:prstGeom prst="rect">
            <a:avLst/>
          </a:prstGeom>
        </p:spPr>
      </p:pic>
      <p:sp>
        <p:nvSpPr>
          <p:cNvPr id="14" name="Text 9"/>
          <p:cNvSpPr txBox="1"/>
          <p:nvPr/>
        </p:nvSpPr>
        <p:spPr>
          <a:xfrm>
            <a:off x="1097280" y="2624328"/>
            <a:ext cx="402336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Adatréteg</a:t>
            </a:r>
            <a:endParaRPr lang="en-US" sz="1400" dirty="0"/>
          </a:p>
        </p:txBody>
      </p:sp>
      <p:sp>
        <p:nvSpPr>
          <p:cNvPr id="15" name="Text 10"/>
          <p:cNvSpPr txBox="1"/>
          <p:nvPr/>
        </p:nvSpPr>
        <p:spPr>
          <a:xfrm>
            <a:off x="1097280" y="2880360"/>
            <a:ext cx="4206240" cy="27432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Egyenleg, hátralék, párosítás: egy számítás mindkét nézetnek</a:t>
            </a:r>
            <a:endParaRPr lang="en-US" sz="1200" dirty="0"/>
          </a:p>
        </p:txBody>
      </p:sp>
      <p:sp>
        <p:nvSpPr>
          <p:cNvPr id="16" name="Láthatóság kör"/>
          <p:cNvSpPr/>
          <p:nvPr/>
        </p:nvSpPr>
        <p:spPr>
          <a:xfrm>
            <a:off x="457200" y="3300984"/>
            <a:ext cx="475488" cy="475488"/>
          </a:xfrm>
          <a:prstGeom prst="ellipse">
            <a:avLst/>
          </a:prstGeom>
          <a:solidFill>
            <a:srgbClr val="F3F3F9"/>
          </a:solidFill>
          <a:ln w="12700">
            <a:solidFill>
              <a:srgbClr val="F3F3F9"/>
            </a:solidFill>
            <a:prstDash val="solid"/>
          </a:ln>
        </p:spPr>
      </p:sp>
      <p:pic>
        <p:nvPicPr>
          <p:cNvPr id="17" name="Láthatóság ikon" descr="preencoded.png">    </p:cNvPr>
          <p:cNvPicPr>
            <a:picLocks noChangeAspect="1"/>
          </p:cNvPicPr>
          <p:nvPr/>
        </p:nvPicPr>
        <p:blipFill>
          <a:blip r:embed="rId4"/>
          <a:stretch>
            <a:fillRect/>
          </a:stretch>
        </p:blipFill>
        <p:spPr>
          <a:xfrm>
            <a:off x="576072" y="3419856"/>
            <a:ext cx="237744" cy="237744"/>
          </a:xfrm>
          <a:prstGeom prst="rect">
            <a:avLst/>
          </a:prstGeom>
        </p:spPr>
      </p:pic>
      <p:sp>
        <p:nvSpPr>
          <p:cNvPr id="18" name="Text 12"/>
          <p:cNvSpPr txBox="1"/>
          <p:nvPr/>
        </p:nvSpPr>
        <p:spPr>
          <a:xfrm>
            <a:off x="1097280" y="3282696"/>
            <a:ext cx="402336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Láthatóság</a:t>
            </a:r>
            <a:endParaRPr lang="en-US" sz="1400" dirty="0"/>
          </a:p>
        </p:txBody>
      </p:sp>
      <p:sp>
        <p:nvSpPr>
          <p:cNvPr id="19" name="Text 13"/>
          <p:cNvSpPr txBox="1"/>
          <p:nvPr/>
        </p:nvSpPr>
        <p:spPr>
          <a:xfrm>
            <a:off x="1097280" y="3538728"/>
            <a:ext cx="4206240" cy="27432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Egyetlen szabálytábla dönti el, mit lát az ügyfél</a:t>
            </a:r>
            <a:endParaRPr lang="en-US" sz="1200" dirty="0"/>
          </a:p>
        </p:txBody>
      </p:sp>
      <p:sp>
        <p:nvSpPr>
          <p:cNvPr id="20" name="Demósáv kör"/>
          <p:cNvSpPr/>
          <p:nvPr/>
        </p:nvSpPr>
        <p:spPr>
          <a:xfrm>
            <a:off x="457200" y="3959352"/>
            <a:ext cx="475488" cy="475488"/>
          </a:xfrm>
          <a:prstGeom prst="ellipse">
            <a:avLst/>
          </a:prstGeom>
          <a:solidFill>
            <a:srgbClr val="F3F3F9"/>
          </a:solidFill>
          <a:ln w="12700">
            <a:solidFill>
              <a:srgbClr val="F3F3F9"/>
            </a:solidFill>
            <a:prstDash val="solid"/>
          </a:ln>
        </p:spPr>
      </p:sp>
      <p:pic>
        <p:nvPicPr>
          <p:cNvPr id="21" name="Demósáv ikon" descr="preencoded.png">    </p:cNvPr>
          <p:cNvPicPr>
            <a:picLocks noChangeAspect="1"/>
          </p:cNvPicPr>
          <p:nvPr/>
        </p:nvPicPr>
        <p:blipFill>
          <a:blip r:embed="rId5"/>
          <a:stretch>
            <a:fillRect/>
          </a:stretch>
        </p:blipFill>
        <p:spPr>
          <a:xfrm>
            <a:off x="576072" y="4078224"/>
            <a:ext cx="237744" cy="237744"/>
          </a:xfrm>
          <a:prstGeom prst="rect">
            <a:avLst/>
          </a:prstGeom>
        </p:spPr>
      </p:pic>
      <p:sp>
        <p:nvSpPr>
          <p:cNvPr id="22" name="Text 15"/>
          <p:cNvSpPr txBox="1"/>
          <p:nvPr/>
        </p:nvSpPr>
        <p:spPr>
          <a:xfrm>
            <a:off x="1097280" y="3941064"/>
            <a:ext cx="402336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Demósáv</a:t>
            </a:r>
            <a:endParaRPr lang="en-US" sz="1400" dirty="0"/>
          </a:p>
        </p:txBody>
      </p:sp>
      <p:sp>
        <p:nvSpPr>
          <p:cNvPr id="23" name="Text 16"/>
          <p:cNvSpPr txBox="1"/>
          <p:nvPr/>
        </p:nvSpPr>
        <p:spPr>
          <a:xfrm>
            <a:off x="1097280" y="4197096"/>
            <a:ext cx="4206240" cy="27432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Forgatókönyv- és nézetváltó a teszteléshez</a:t>
            </a:r>
            <a:endParaRPr lang="en-US" sz="1200" dirty="0"/>
          </a:p>
        </p:txBody>
      </p:sp>
      <p:sp>
        <p:nvSpPr>
          <p:cNvPr id="24" name="tesztek kártya"/>
          <p:cNvSpPr/>
          <p:nvPr/>
        </p:nvSpPr>
        <p:spPr>
          <a:xfrm>
            <a:off x="5669280" y="1325880"/>
            <a:ext cx="3017520" cy="3200400"/>
          </a:xfrm>
          <a:prstGeom prst="roundRect">
            <a:avLst>
              <a:gd name="adj" fmla="val 3636"/>
            </a:avLst>
          </a:prstGeom>
          <a:solidFill>
            <a:srgbClr val="283168"/>
          </a:solidFill>
          <a:ln w="9525">
            <a:solidFill>
              <a:srgbClr val="283168"/>
            </a:solidFill>
            <a:prstDash val="solid"/>
          </a:ln>
          <a:effectLst>
            <a:outerShdw sx="100000" sy="100000" kx="0" ky="0" algn="bl" rotWithShape="0" blurRad="76200" dist="25400" dir="5400000">
              <a:srgbClr val="283168">
                <a:alpha val="8000"/>
              </a:srgbClr>
            </a:outerShdw>
          </a:effectLst>
        </p:spPr>
      </p:sp>
      <p:sp>
        <p:nvSpPr>
          <p:cNvPr id="25" name="Text 18"/>
          <p:cNvSpPr txBox="1"/>
          <p:nvPr/>
        </p:nvSpPr>
        <p:spPr>
          <a:xfrm>
            <a:off x="5897880" y="1554480"/>
            <a:ext cx="2560320" cy="1005840"/>
          </a:xfrm>
          <a:prstGeom prst="rect">
            <a:avLst/>
          </a:prstGeom>
          <a:noFill/>
          <a:ln/>
        </p:spPr>
        <p:txBody>
          <a:bodyPr wrap="square" lIns="0" tIns="0" rIns="0" bIns="0" rtlCol="0" anchor="t"/>
          <a:lstStyle/>
          <a:p>
            <a:pPr indent="0" marL="0">
              <a:buNone/>
            </a:pPr>
            <a:r>
              <a:rPr lang="en-US" sz="6600" b="1" dirty="0">
                <a:solidFill>
                  <a:srgbClr val="45C396"/>
                </a:solidFill>
                <a:latin typeface="Century Gothic" pitchFamily="34" charset="0"/>
                <a:ea typeface="Century Gothic" pitchFamily="34" charset="-122"/>
                <a:cs typeface="Century Gothic" pitchFamily="34" charset="-120"/>
              </a:rPr>
              <a:t>65</a:t>
            </a:r>
            <a:endParaRPr lang="en-US" sz="6600" dirty="0"/>
          </a:p>
        </p:txBody>
      </p:sp>
      <p:sp>
        <p:nvSpPr>
          <p:cNvPr id="26" name="Text 19"/>
          <p:cNvSpPr txBox="1"/>
          <p:nvPr/>
        </p:nvSpPr>
        <p:spPr>
          <a:xfrm>
            <a:off x="5897880" y="2560320"/>
            <a:ext cx="2560320" cy="32004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automatikus teszt</a:t>
            </a:r>
            <a:endParaRPr lang="en-US" sz="1700" dirty="0"/>
          </a:p>
        </p:txBody>
      </p:sp>
      <p:sp>
        <p:nvSpPr>
          <p:cNvPr id="27" name="Text 20"/>
          <p:cNvSpPr txBox="1"/>
          <p:nvPr/>
        </p:nvSpPr>
        <p:spPr>
          <a:xfrm>
            <a:off x="5897880" y="2926080"/>
            <a:ext cx="2606040" cy="822960"/>
          </a:xfrm>
          <a:prstGeom prst="rect">
            <a:avLst/>
          </a:prstGeom>
          <a:noFill/>
          <a:ln/>
        </p:spPr>
        <p:txBody>
          <a:bodyPr wrap="square" lIns="0" tIns="0" rIns="0" bIns="0" rtlCol="0" anchor="t"/>
          <a:lstStyle/>
          <a:p>
            <a:pPr indent="0" marL="0">
              <a:buNone/>
            </a:pPr>
            <a:r>
              <a:rPr lang="en-US" sz="1200" dirty="0">
                <a:solidFill>
                  <a:srgbClr val="D7DBEE"/>
                </a:solidFill>
                <a:latin typeface="Calibri" pitchFamily="34" charset="0"/>
                <a:ea typeface="Calibri" pitchFamily="34" charset="-122"/>
                <a:cs typeface="Calibri" pitchFamily="34" charset="-120"/>
              </a:rPr>
              <a:t>Minden lépés után lefut: egyenlegek, státuszok, és hogy az ügyfél nézetbe ne kerüljön rejtett adat.</a:t>
            </a:r>
            <a:endParaRPr lang="en-US" sz="1200" dirty="0"/>
          </a:p>
        </p:txBody>
      </p:sp>
      <p:sp>
        <p:nvSpPr>
          <p:cNvPr id="28" name="Text 21"/>
          <p:cNvSpPr txBox="1"/>
          <p:nvPr/>
        </p:nvSpPr>
        <p:spPr>
          <a:xfrm>
            <a:off x="5897880" y="3977640"/>
            <a:ext cx="2651760" cy="365760"/>
          </a:xfrm>
          <a:prstGeom prst="rect">
            <a:avLst/>
          </a:prstGeom>
          <a:noFill/>
          <a:ln/>
        </p:spPr>
        <p:txBody>
          <a:bodyPr wrap="square" lIns="0" tIns="0" rIns="0" bIns="0" rtlCol="0" anchor="t"/>
          <a:lstStyle/>
          <a:p>
            <a:pPr indent="0" marL="0">
              <a:buNone/>
            </a:pPr>
            <a:r>
              <a:rPr lang="en-US" sz="1100" dirty="0">
                <a:solidFill>
                  <a:srgbClr val="AEB5D6"/>
                </a:solidFill>
                <a:latin typeface="Calibri" pitchFamily="34" charset="0"/>
                <a:ea typeface="Calibri" pitchFamily="34" charset="-122"/>
                <a:cs typeface="Calibri" pitchFamily="34" charset="-120"/>
              </a:rPr>
              <a:t>4 forgatókönyv · 2 szerepkör · 13 tranzakciótípus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3. állomás: az ügyfél nézet</a:t>
            </a:r>
            <a:endParaRPr lang="en-US" sz="2600" dirty="0"/>
          </a:p>
        </p:txBody>
      </p:sp>
      <p:sp>
        <p:nvSpPr>
          <p:cNvPr id="3" name="Text 1"/>
          <p:cNvSpPr txBox="1"/>
          <p:nvPr/>
        </p:nvSpPr>
        <p:spPr>
          <a:xfrm>
            <a:off x="457200" y="868680"/>
            <a:ext cx="7680960" cy="320040"/>
          </a:xfrm>
          <a:prstGeom prst="rect">
            <a:avLst/>
          </a:prstGeom>
          <a:noFill/>
          <a:ln/>
        </p:spPr>
        <p:txBody>
          <a:bodyPr wrap="square" lIns="0" tIns="0" rIns="0" bIns="0" rtlCol="0" anchor="t"/>
          <a:lstStyle/>
          <a:p>
            <a:pPr indent="0" marL="0">
              <a:buNone/>
            </a:pPr>
            <a:r>
              <a:rPr lang="en-US" sz="1500" dirty="0">
                <a:solidFill>
                  <a:srgbClr val="4A545E"/>
                </a:solidFill>
                <a:latin typeface="Calibri" pitchFamily="34" charset="0"/>
                <a:ea typeface="Calibri" pitchFamily="34" charset="-122"/>
                <a:cs typeface="Calibri" pitchFamily="34" charset="-120"/>
              </a:rPr>
              <a:t>Egy kérdés, egy válasz – a részletek csak kattintásra.</a:t>
            </a:r>
            <a:endParaRPr lang="en-US" sz="1500" dirty="0"/>
          </a:p>
        </p:txBody>
      </p:sp>
      <p:sp>
        <p:nvSpPr>
          <p:cNvPr id="4" name="Állapotsor keret"/>
          <p:cNvSpPr/>
          <p:nvPr/>
        </p:nvSpPr>
        <p:spPr>
          <a:xfrm>
            <a:off x="1141913" y="1261872"/>
            <a:ext cx="1373773" cy="2825496"/>
          </a:xfrm>
          <a:prstGeom prst="roundRect">
            <a:avLst>
              <a:gd name="adj" fmla="val 10650"/>
            </a:avLst>
          </a:prstGeom>
          <a:solidFill>
            <a:srgbClr val="283168"/>
          </a:solidFill>
          <a:ln w="12700">
            <a:solidFill>
              <a:srgbClr val="283168"/>
            </a:solidFill>
            <a:prstDash val="solid"/>
          </a:ln>
          <a:effectLst>
            <a:outerShdw sx="100000" sy="100000" kx="0" ky="0" algn="bl" rotWithShape="0" blurRad="101600" dist="38100" dir="5400000">
              <a:srgbClr val="1A1F3A">
                <a:alpha val="25000"/>
              </a:srgbClr>
            </a:outerShdw>
          </a:effectLst>
        </p:spPr>
      </p:sp>
      <p:pic>
        <p:nvPicPr>
          <p:cNvPr id="5" name="Állapotsor" descr="C:\Users\PC\AppData\Local\Temp\claude\C--Users-PC-Desktop--gyf-l-Port-l-Foly-sz-mla-adatok\09416993-6b14-4442-8951-34001b20812d\scratchpad\deck\img\phone-status.jpg">    </p:cNvPr>
          <p:cNvPicPr>
            <a:picLocks noChangeAspect="1"/>
          </p:cNvPicPr>
          <p:nvPr/>
        </p:nvPicPr>
        <p:blipFill>
          <a:blip r:embed="rId1"/>
          <a:stretch>
            <a:fillRect/>
          </a:stretch>
        </p:blipFill>
        <p:spPr>
          <a:xfrm>
            <a:off x="1205921" y="1325880"/>
            <a:ext cx="1245757" cy="2697480"/>
          </a:xfrm>
          <a:prstGeom prst="rect">
            <a:avLst/>
          </a:prstGeom>
        </p:spPr>
      </p:pic>
      <p:sp>
        <p:nvSpPr>
          <p:cNvPr id="6" name="Text 3"/>
          <p:cNvSpPr txBox="1"/>
          <p:nvPr/>
        </p:nvSpPr>
        <p:spPr>
          <a:xfrm>
            <a:off x="548640" y="4160520"/>
            <a:ext cx="2560320" cy="237744"/>
          </a:xfrm>
          <a:prstGeom prst="rect">
            <a:avLst/>
          </a:prstGeom>
          <a:noFill/>
          <a:ln/>
        </p:spPr>
        <p:txBody>
          <a:bodyPr wrap="square" lIns="0" tIns="0" rIns="0" bIns="0" rtlCol="0" anchor="t"/>
          <a:lstStyle/>
          <a:p>
            <a:pPr algn="ctr" indent="0" marL="0">
              <a:buNone/>
            </a:pPr>
            <a:r>
              <a:rPr lang="en-US" sz="1300" b="1" dirty="0">
                <a:solidFill>
                  <a:srgbClr val="283168"/>
                </a:solidFill>
                <a:latin typeface="Calibri" pitchFamily="34" charset="0"/>
                <a:ea typeface="Calibri" pitchFamily="34" charset="-122"/>
                <a:cs typeface="Calibri" pitchFamily="34" charset="-120"/>
              </a:rPr>
              <a:t>Állapotsor</a:t>
            </a:r>
            <a:endParaRPr lang="en-US" sz="1300" dirty="0"/>
          </a:p>
        </p:txBody>
      </p:sp>
      <p:sp>
        <p:nvSpPr>
          <p:cNvPr id="7" name="Text 4"/>
          <p:cNvSpPr txBox="1"/>
          <p:nvPr/>
        </p:nvSpPr>
        <p:spPr>
          <a:xfrm>
            <a:off x="548640" y="4389120"/>
            <a:ext cx="2560320" cy="219456"/>
          </a:xfrm>
          <a:prstGeom prst="rect">
            <a:avLst/>
          </a:prstGeom>
          <a:noFill/>
          <a:ln/>
        </p:spPr>
        <p:txBody>
          <a:bodyPr wrap="square" lIns="0" tIns="0" rIns="0" bIns="0" rtlCol="0" anchor="t"/>
          <a:lstStyle/>
          <a:p>
            <a:pPr algn="ctr" indent="0" marL="0">
              <a:buNone/>
            </a:pPr>
            <a:r>
              <a:rPr lang="en-US" sz="1100" dirty="0">
                <a:solidFill>
                  <a:srgbClr val="6C7B8A"/>
                </a:solidFill>
                <a:latin typeface="Calibri" pitchFamily="34" charset="0"/>
                <a:ea typeface="Calibri" pitchFamily="34" charset="-122"/>
                <a:cs typeface="Calibri" pitchFamily="34" charset="-120"/>
              </a:rPr>
              <a:t>„Rendben vagyok?” – azonnal látszik</a:t>
            </a:r>
            <a:endParaRPr lang="en-US" sz="1100" dirty="0"/>
          </a:p>
        </p:txBody>
      </p:sp>
      <p:sp>
        <p:nvSpPr>
          <p:cNvPr id="8" name="Kibontott tétel keret"/>
          <p:cNvSpPr/>
          <p:nvPr/>
        </p:nvSpPr>
        <p:spPr>
          <a:xfrm>
            <a:off x="3885113" y="1261872"/>
            <a:ext cx="1373773" cy="2825496"/>
          </a:xfrm>
          <a:prstGeom prst="roundRect">
            <a:avLst>
              <a:gd name="adj" fmla="val 10650"/>
            </a:avLst>
          </a:prstGeom>
          <a:solidFill>
            <a:srgbClr val="283168"/>
          </a:solidFill>
          <a:ln w="12700">
            <a:solidFill>
              <a:srgbClr val="283168"/>
            </a:solidFill>
            <a:prstDash val="solid"/>
          </a:ln>
          <a:effectLst>
            <a:outerShdw sx="100000" sy="100000" kx="0" ky="0" algn="bl" rotWithShape="0" blurRad="101600" dist="38100" dir="5400000">
              <a:srgbClr val="1A1F3A">
                <a:alpha val="25000"/>
              </a:srgbClr>
            </a:outerShdw>
          </a:effectLst>
        </p:spPr>
      </p:sp>
      <p:pic>
        <p:nvPicPr>
          <p:cNvPr id="9" name="Kibontott tétel" descr="C:\Users\PC\AppData\Local\Temp\claude\C--Users-PC-Desktop--gyf-l-Port-l-Foly-sz-mla-adatok\09416993-6b14-4442-8951-34001b20812d\scratchpad\deck\img\phone-expanded.jpg">    </p:cNvPr>
          <p:cNvPicPr>
            <a:picLocks noChangeAspect="1"/>
          </p:cNvPicPr>
          <p:nvPr/>
        </p:nvPicPr>
        <p:blipFill>
          <a:blip r:embed="rId2"/>
          <a:stretch>
            <a:fillRect/>
          </a:stretch>
        </p:blipFill>
        <p:spPr>
          <a:xfrm>
            <a:off x="3949121" y="1325880"/>
            <a:ext cx="1245757" cy="2697480"/>
          </a:xfrm>
          <a:prstGeom prst="rect">
            <a:avLst/>
          </a:prstGeom>
        </p:spPr>
      </p:pic>
      <p:sp>
        <p:nvSpPr>
          <p:cNvPr id="10" name="Text 6"/>
          <p:cNvSpPr txBox="1"/>
          <p:nvPr/>
        </p:nvSpPr>
        <p:spPr>
          <a:xfrm>
            <a:off x="3291840" y="4160520"/>
            <a:ext cx="2560320" cy="237744"/>
          </a:xfrm>
          <a:prstGeom prst="rect">
            <a:avLst/>
          </a:prstGeom>
          <a:noFill/>
          <a:ln/>
        </p:spPr>
        <p:txBody>
          <a:bodyPr wrap="square" lIns="0" tIns="0" rIns="0" bIns="0" rtlCol="0" anchor="t"/>
          <a:lstStyle/>
          <a:p>
            <a:pPr algn="ctr" indent="0" marL="0">
              <a:buNone/>
            </a:pPr>
            <a:r>
              <a:rPr lang="en-US" sz="1300" b="1" dirty="0">
                <a:solidFill>
                  <a:srgbClr val="283168"/>
                </a:solidFill>
                <a:latin typeface="Calibri" pitchFamily="34" charset="0"/>
                <a:ea typeface="Calibri" pitchFamily="34" charset="-122"/>
                <a:cs typeface="Calibri" pitchFamily="34" charset="-120"/>
              </a:rPr>
              <a:t>Kibontott tétel</a:t>
            </a:r>
            <a:endParaRPr lang="en-US" sz="1300" dirty="0"/>
          </a:p>
        </p:txBody>
      </p:sp>
      <p:sp>
        <p:nvSpPr>
          <p:cNvPr id="11" name="Text 7"/>
          <p:cNvSpPr txBox="1"/>
          <p:nvPr/>
        </p:nvSpPr>
        <p:spPr>
          <a:xfrm>
            <a:off x="3291840" y="4389120"/>
            <a:ext cx="2560320" cy="219456"/>
          </a:xfrm>
          <a:prstGeom prst="rect">
            <a:avLst/>
          </a:prstGeom>
          <a:noFill/>
          <a:ln/>
        </p:spPr>
        <p:txBody>
          <a:bodyPr wrap="square" lIns="0" tIns="0" rIns="0" bIns="0" rtlCol="0" anchor="t"/>
          <a:lstStyle/>
          <a:p>
            <a:pPr algn="ctr" indent="0" marL="0">
              <a:buNone/>
            </a:pPr>
            <a:r>
              <a:rPr lang="en-US" sz="1100" dirty="0">
                <a:solidFill>
                  <a:srgbClr val="6C7B8A"/>
                </a:solidFill>
                <a:latin typeface="Calibri" pitchFamily="34" charset="0"/>
                <a:ea typeface="Calibri" pitchFamily="34" charset="-122"/>
                <a:cs typeface="Calibri" pitchFamily="34" charset="-120"/>
              </a:rPr>
              <a:t>Miért hiányzik 1 380 Ft? Indexálás, régi csekk</a:t>
            </a:r>
            <a:endParaRPr lang="en-US" sz="1100" dirty="0"/>
          </a:p>
        </p:txBody>
      </p:sp>
      <p:sp>
        <p:nvSpPr>
          <p:cNvPr id="12" name="Sikertelen lehívás keret"/>
          <p:cNvSpPr/>
          <p:nvPr/>
        </p:nvSpPr>
        <p:spPr>
          <a:xfrm>
            <a:off x="6628313" y="1261872"/>
            <a:ext cx="1373773" cy="2825496"/>
          </a:xfrm>
          <a:prstGeom prst="roundRect">
            <a:avLst>
              <a:gd name="adj" fmla="val 10650"/>
            </a:avLst>
          </a:prstGeom>
          <a:solidFill>
            <a:srgbClr val="283168"/>
          </a:solidFill>
          <a:ln w="12700">
            <a:solidFill>
              <a:srgbClr val="283168"/>
            </a:solidFill>
            <a:prstDash val="solid"/>
          </a:ln>
          <a:effectLst>
            <a:outerShdw sx="100000" sy="100000" kx="0" ky="0" algn="bl" rotWithShape="0" blurRad="101600" dist="38100" dir="5400000">
              <a:srgbClr val="1A1F3A">
                <a:alpha val="25000"/>
              </a:srgbClr>
            </a:outerShdw>
          </a:effectLst>
        </p:spPr>
      </p:sp>
      <p:pic>
        <p:nvPicPr>
          <p:cNvPr id="13" name="Sikertelen lehívás" descr="C:\Users\PC\AppData\Local\Temp\claude\C--Users-PC-Desktop--gyf-l-Port-l-Foly-sz-mla-adatok\09416993-6b14-4442-8951-34001b20812d\scratchpad\deck\img\phone-failed.jpg">    </p:cNvPr>
          <p:cNvPicPr>
            <a:picLocks noChangeAspect="1"/>
          </p:cNvPicPr>
          <p:nvPr/>
        </p:nvPicPr>
        <p:blipFill>
          <a:blip r:embed="rId3"/>
          <a:stretch>
            <a:fillRect/>
          </a:stretch>
        </p:blipFill>
        <p:spPr>
          <a:xfrm>
            <a:off x="6692321" y="1325880"/>
            <a:ext cx="1245757" cy="2697480"/>
          </a:xfrm>
          <a:prstGeom prst="rect">
            <a:avLst/>
          </a:prstGeom>
        </p:spPr>
      </p:pic>
      <p:sp>
        <p:nvSpPr>
          <p:cNvPr id="14" name="Text 9"/>
          <p:cNvSpPr txBox="1"/>
          <p:nvPr/>
        </p:nvSpPr>
        <p:spPr>
          <a:xfrm>
            <a:off x="6035040" y="4160520"/>
            <a:ext cx="2560320" cy="237744"/>
          </a:xfrm>
          <a:prstGeom prst="rect">
            <a:avLst/>
          </a:prstGeom>
          <a:noFill/>
          <a:ln/>
        </p:spPr>
        <p:txBody>
          <a:bodyPr wrap="square" lIns="0" tIns="0" rIns="0" bIns="0" rtlCol="0" anchor="t"/>
          <a:lstStyle/>
          <a:p>
            <a:pPr algn="ctr" indent="0" marL="0">
              <a:buNone/>
            </a:pPr>
            <a:r>
              <a:rPr lang="en-US" sz="1300" b="1" dirty="0">
                <a:solidFill>
                  <a:srgbClr val="283168"/>
                </a:solidFill>
                <a:latin typeface="Calibri" pitchFamily="34" charset="0"/>
                <a:ea typeface="Calibri" pitchFamily="34" charset="-122"/>
                <a:cs typeface="Calibri" pitchFamily="34" charset="-120"/>
              </a:rPr>
              <a:t>Sikertelen lehívás</a:t>
            </a:r>
            <a:endParaRPr lang="en-US" sz="1300" dirty="0"/>
          </a:p>
        </p:txBody>
      </p:sp>
      <p:sp>
        <p:nvSpPr>
          <p:cNvPr id="15" name="Text 10"/>
          <p:cNvSpPr txBox="1"/>
          <p:nvPr/>
        </p:nvSpPr>
        <p:spPr>
          <a:xfrm>
            <a:off x="6035040" y="4389120"/>
            <a:ext cx="2560320" cy="219456"/>
          </a:xfrm>
          <a:prstGeom prst="rect">
            <a:avLst/>
          </a:prstGeom>
          <a:noFill/>
          <a:ln/>
        </p:spPr>
        <p:txBody>
          <a:bodyPr wrap="square" lIns="0" tIns="0" rIns="0" bIns="0" rtlCol="0" anchor="t"/>
          <a:lstStyle/>
          <a:p>
            <a:pPr algn="ctr" indent="0" marL="0">
              <a:buNone/>
            </a:pPr>
            <a:r>
              <a:rPr lang="en-US" sz="1100" dirty="0">
                <a:solidFill>
                  <a:srgbClr val="6C7B8A"/>
                </a:solidFill>
                <a:latin typeface="Calibri" pitchFamily="34" charset="0"/>
                <a:ea typeface="Calibri" pitchFamily="34" charset="-122"/>
                <a:cs typeface="Calibri" pitchFamily="34" charset="-120"/>
              </a:rPr>
              <a:t>Mi az oka, és van-e teendő?</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4. állomás: az üzlet nyelvén</a:t>
            </a:r>
            <a:endParaRPr lang="en-US" sz="2600" dirty="0"/>
          </a:p>
        </p:txBody>
      </p:sp>
      <p:sp>
        <p:nvSpPr>
          <p:cNvPr id="3" name="Text 1"/>
          <p:cNvSpPr txBox="1"/>
          <p:nvPr/>
        </p:nvSpPr>
        <p:spPr>
          <a:xfrm>
            <a:off x="457200" y="868680"/>
            <a:ext cx="4572000" cy="320040"/>
          </a:xfrm>
          <a:prstGeom prst="rect">
            <a:avLst/>
          </a:prstGeom>
          <a:noFill/>
          <a:ln/>
        </p:spPr>
        <p:txBody>
          <a:bodyPr wrap="square" lIns="0" tIns="0" rIns="0" bIns="0" rtlCol="0" anchor="t"/>
          <a:lstStyle/>
          <a:p>
            <a:pPr indent="0" marL="0">
              <a:buNone/>
            </a:pPr>
            <a:r>
              <a:rPr lang="en-US" sz="1500" dirty="0">
                <a:solidFill>
                  <a:srgbClr val="4A545E"/>
                </a:solidFill>
                <a:latin typeface="Calibri" pitchFamily="34" charset="0"/>
                <a:ea typeface="Calibri" pitchFamily="34" charset="-122"/>
                <a:cs typeface="Calibri" pitchFamily="34" charset="-120"/>
              </a:rPr>
              <a:t>A prototípusból folyamatábrák lettek a bemutatóhoz.</a:t>
            </a:r>
            <a:endParaRPr lang="en-US" sz="1500" dirty="0"/>
          </a:p>
        </p:txBody>
      </p:sp>
      <p:sp>
        <p:nvSpPr>
          <p:cNvPr id="4" name="5 folyamatábra kör"/>
          <p:cNvSpPr/>
          <p:nvPr/>
        </p:nvSpPr>
        <p:spPr>
          <a:xfrm>
            <a:off x="457200" y="1371600"/>
            <a:ext cx="475488" cy="475488"/>
          </a:xfrm>
          <a:prstGeom prst="ellipse">
            <a:avLst/>
          </a:prstGeom>
          <a:solidFill>
            <a:srgbClr val="283168"/>
          </a:solidFill>
          <a:ln w="12700">
            <a:solidFill>
              <a:srgbClr val="283168"/>
            </a:solidFill>
            <a:prstDash val="solid"/>
          </a:ln>
        </p:spPr>
      </p:sp>
      <p:pic>
        <p:nvPicPr>
          <p:cNvPr id="5" name="5 folyamatábra ikon" descr="preencoded.png">    </p:cNvPr>
          <p:cNvPicPr>
            <a:picLocks noChangeAspect="1"/>
          </p:cNvPicPr>
          <p:nvPr/>
        </p:nvPicPr>
        <p:blipFill>
          <a:blip r:embed="rId1"/>
          <a:stretch>
            <a:fillRect/>
          </a:stretch>
        </p:blipFill>
        <p:spPr>
          <a:xfrm>
            <a:off x="576072" y="1490472"/>
            <a:ext cx="237744" cy="237744"/>
          </a:xfrm>
          <a:prstGeom prst="rect">
            <a:avLst/>
          </a:prstGeom>
        </p:spPr>
      </p:pic>
      <p:sp>
        <p:nvSpPr>
          <p:cNvPr id="6" name="Text 3"/>
          <p:cNvSpPr txBox="1"/>
          <p:nvPr/>
        </p:nvSpPr>
        <p:spPr>
          <a:xfrm>
            <a:off x="1097280" y="1353312"/>
            <a:ext cx="365760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5 folyamatábra</a:t>
            </a:r>
            <a:endParaRPr lang="en-US" sz="1400" dirty="0"/>
          </a:p>
        </p:txBody>
      </p:sp>
      <p:sp>
        <p:nvSpPr>
          <p:cNvPr id="7" name="Text 4"/>
          <p:cNvSpPr txBox="1"/>
          <p:nvPr/>
        </p:nvSpPr>
        <p:spPr>
          <a:xfrm>
            <a:off x="1097280" y="1609344"/>
            <a:ext cx="3749040" cy="41148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Áttekintés és a 4 forgatókönyv felhasználói útja</a:t>
            </a:r>
            <a:endParaRPr lang="en-US" sz="1200" dirty="0"/>
          </a:p>
        </p:txBody>
      </p:sp>
      <p:sp>
        <p:nvSpPr>
          <p:cNvPr id="8" name="Mit lát, hova kattint, mit olvas kör"/>
          <p:cNvSpPr/>
          <p:nvPr/>
        </p:nvSpPr>
        <p:spPr>
          <a:xfrm>
            <a:off x="457200" y="2157984"/>
            <a:ext cx="475488" cy="475488"/>
          </a:xfrm>
          <a:prstGeom prst="ellipse">
            <a:avLst/>
          </a:prstGeom>
          <a:solidFill>
            <a:srgbClr val="45C396"/>
          </a:solidFill>
          <a:ln w="12700">
            <a:solidFill>
              <a:srgbClr val="45C396"/>
            </a:solidFill>
            <a:prstDash val="solid"/>
          </a:ln>
        </p:spPr>
      </p:sp>
      <p:pic>
        <p:nvPicPr>
          <p:cNvPr id="9" name="Mit lát, hova kattint, mit olvas ikon" descr="preencoded.png">    </p:cNvPr>
          <p:cNvPicPr>
            <a:picLocks noChangeAspect="1"/>
          </p:cNvPicPr>
          <p:nvPr/>
        </p:nvPicPr>
        <p:blipFill>
          <a:blip r:embed="rId2"/>
          <a:stretch>
            <a:fillRect/>
          </a:stretch>
        </p:blipFill>
        <p:spPr>
          <a:xfrm>
            <a:off x="576072" y="2276856"/>
            <a:ext cx="237744" cy="237744"/>
          </a:xfrm>
          <a:prstGeom prst="rect">
            <a:avLst/>
          </a:prstGeom>
        </p:spPr>
      </p:pic>
      <p:sp>
        <p:nvSpPr>
          <p:cNvPr id="10" name="Text 6"/>
          <p:cNvSpPr txBox="1"/>
          <p:nvPr/>
        </p:nvSpPr>
        <p:spPr>
          <a:xfrm>
            <a:off x="1097280" y="2139696"/>
            <a:ext cx="365760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Mit lát, hova kattint, mit olvas</a:t>
            </a:r>
            <a:endParaRPr lang="en-US" sz="1400" dirty="0"/>
          </a:p>
        </p:txBody>
      </p:sp>
      <p:sp>
        <p:nvSpPr>
          <p:cNvPr id="11" name="Text 7"/>
          <p:cNvSpPr txBox="1"/>
          <p:nvPr/>
        </p:nvSpPr>
        <p:spPr>
          <a:xfrm>
            <a:off x="1097280" y="2395728"/>
            <a:ext cx="3749040" cy="41148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A dobozokban a prototípus valódi szövegei</a:t>
            </a:r>
            <a:endParaRPr lang="en-US" sz="1200" dirty="0"/>
          </a:p>
        </p:txBody>
      </p:sp>
      <p:sp>
        <p:nvSpPr>
          <p:cNvPr id="12" name="Amit az ügyfél nem lát kör"/>
          <p:cNvSpPr/>
          <p:nvPr/>
        </p:nvSpPr>
        <p:spPr>
          <a:xfrm>
            <a:off x="457200" y="2944368"/>
            <a:ext cx="475488" cy="475488"/>
          </a:xfrm>
          <a:prstGeom prst="ellipse">
            <a:avLst/>
          </a:prstGeom>
          <a:solidFill>
            <a:srgbClr val="C0392B"/>
          </a:solidFill>
          <a:ln w="12700">
            <a:solidFill>
              <a:srgbClr val="C0392B"/>
            </a:solidFill>
            <a:prstDash val="solid"/>
          </a:ln>
        </p:spPr>
      </p:sp>
      <p:pic>
        <p:nvPicPr>
          <p:cNvPr id="13" name="Amit az ügyfél nem lát ikon" descr="preencoded.png">    </p:cNvPr>
          <p:cNvPicPr>
            <a:picLocks noChangeAspect="1"/>
          </p:cNvPicPr>
          <p:nvPr/>
        </p:nvPicPr>
        <p:blipFill>
          <a:blip r:embed="rId3"/>
          <a:stretch>
            <a:fillRect/>
          </a:stretch>
        </p:blipFill>
        <p:spPr>
          <a:xfrm>
            <a:off x="576072" y="3063240"/>
            <a:ext cx="237744" cy="237744"/>
          </a:xfrm>
          <a:prstGeom prst="rect">
            <a:avLst/>
          </a:prstGeom>
        </p:spPr>
      </p:pic>
      <p:sp>
        <p:nvSpPr>
          <p:cNvPr id="14" name="Text 9"/>
          <p:cNvSpPr txBox="1"/>
          <p:nvPr/>
        </p:nvSpPr>
        <p:spPr>
          <a:xfrm>
            <a:off x="1097280" y="2926080"/>
            <a:ext cx="365760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Amit az ügyfél nem lát</a:t>
            </a:r>
            <a:endParaRPr lang="en-US" sz="1400" dirty="0"/>
          </a:p>
        </p:txBody>
      </p:sp>
      <p:sp>
        <p:nvSpPr>
          <p:cNvPr id="15" name="Text 10"/>
          <p:cNvSpPr txBox="1"/>
          <p:nvPr/>
        </p:nvSpPr>
        <p:spPr>
          <a:xfrm>
            <a:off x="1097280" y="3182112"/>
            <a:ext cx="3749040" cy="41148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Külön blokk minden ábrán: a szerepkör-szabályok is láthatók</a:t>
            </a:r>
            <a:endParaRPr lang="en-US" sz="1200" dirty="0"/>
          </a:p>
        </p:txBody>
      </p:sp>
      <p:sp>
        <p:nvSpPr>
          <p:cNvPr id="16" name="Mermaid kód kör"/>
          <p:cNvSpPr/>
          <p:nvPr/>
        </p:nvSpPr>
        <p:spPr>
          <a:xfrm>
            <a:off x="457200" y="3730752"/>
            <a:ext cx="475488" cy="475488"/>
          </a:xfrm>
          <a:prstGeom prst="ellipse">
            <a:avLst/>
          </a:prstGeom>
          <a:solidFill>
            <a:srgbClr val="00B08A"/>
          </a:solidFill>
          <a:ln w="12700">
            <a:solidFill>
              <a:srgbClr val="00B08A"/>
            </a:solidFill>
            <a:prstDash val="solid"/>
          </a:ln>
        </p:spPr>
      </p:sp>
      <p:pic>
        <p:nvPicPr>
          <p:cNvPr id="17" name="Mermaid kód ikon" descr="preencoded.png">    </p:cNvPr>
          <p:cNvPicPr>
            <a:picLocks noChangeAspect="1"/>
          </p:cNvPicPr>
          <p:nvPr/>
        </p:nvPicPr>
        <p:blipFill>
          <a:blip r:embed="rId4"/>
          <a:stretch>
            <a:fillRect/>
          </a:stretch>
        </p:blipFill>
        <p:spPr>
          <a:xfrm>
            <a:off x="576072" y="3849624"/>
            <a:ext cx="237744" cy="237744"/>
          </a:xfrm>
          <a:prstGeom prst="rect">
            <a:avLst/>
          </a:prstGeom>
        </p:spPr>
      </p:pic>
      <p:sp>
        <p:nvSpPr>
          <p:cNvPr id="18" name="Text 12"/>
          <p:cNvSpPr txBox="1"/>
          <p:nvPr/>
        </p:nvSpPr>
        <p:spPr>
          <a:xfrm>
            <a:off x="1097280" y="3712464"/>
            <a:ext cx="3657600" cy="256032"/>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Mermaid kód</a:t>
            </a:r>
            <a:endParaRPr lang="en-US" sz="1400" dirty="0"/>
          </a:p>
        </p:txBody>
      </p:sp>
      <p:sp>
        <p:nvSpPr>
          <p:cNvPr id="19" name="Text 13"/>
          <p:cNvSpPr txBox="1"/>
          <p:nvPr/>
        </p:nvSpPr>
        <p:spPr>
          <a:xfrm>
            <a:off x="1097280" y="3968496"/>
            <a:ext cx="3749040" cy="41148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Bemásolható draw.io-ba, Confluence-be, prezentációba</a:t>
            </a:r>
            <a:endParaRPr lang="en-US" sz="1200" dirty="0"/>
          </a:p>
        </p:txBody>
      </p:sp>
      <p:sp>
        <p:nvSpPr>
          <p:cNvPr id="20" name="folyamatábra kártya"/>
          <p:cNvSpPr/>
          <p:nvPr/>
        </p:nvSpPr>
        <p:spPr>
          <a:xfrm>
            <a:off x="5120640" y="1051560"/>
            <a:ext cx="3566160" cy="3611880"/>
          </a:xfrm>
          <a:prstGeom prst="roundRect">
            <a:avLst>
              <a:gd name="adj" fmla="val 3077"/>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pic>
        <p:nvPicPr>
          <p:cNvPr id="21" name="Folyamatábra – 1. forgatókönyv" descr="C:\Users\PC\AppData\Local\Temp\claude\C--Users-PC-Desktop--gyf-l-Port-l-Foly-sz-mla-adatok\09416993-6b14-4442-8951-34001b20812d\scratchpad\deck\img\diagram1.png">    </p:cNvPr>
          <p:cNvPicPr>
            <a:picLocks noChangeAspect="1"/>
          </p:cNvPicPr>
          <p:nvPr/>
        </p:nvPicPr>
        <p:blipFill>
          <a:blip r:embed="rId5"/>
          <a:stretch>
            <a:fillRect/>
          </a:stretch>
        </p:blipFill>
        <p:spPr>
          <a:xfrm>
            <a:off x="5217455" y="1051560"/>
            <a:ext cx="3372531" cy="3611880"/>
          </a:xfrm>
          <a:prstGeom prst="rect">
            <a:avLst/>
          </a:prstGeom>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Amit a lépésenkénti ellenőrzés kiszűrt</a:t>
            </a:r>
            <a:endParaRPr lang="en-US" sz="2600" dirty="0"/>
          </a:p>
        </p:txBody>
      </p:sp>
      <p:sp>
        <p:nvSpPr>
          <p:cNvPr id="3" name="Text 1"/>
          <p:cNvSpPr txBox="1"/>
          <p:nvPr/>
        </p:nvSpPr>
        <p:spPr>
          <a:xfrm>
            <a:off x="457200" y="868680"/>
            <a:ext cx="7863840" cy="320040"/>
          </a:xfrm>
          <a:prstGeom prst="rect">
            <a:avLst/>
          </a:prstGeom>
          <a:noFill/>
          <a:ln/>
        </p:spPr>
        <p:txBody>
          <a:bodyPr wrap="square" lIns="0" tIns="0" rIns="0" bIns="0" rtlCol="0" anchor="t"/>
          <a:lstStyle/>
          <a:p>
            <a:pPr indent="0" marL="0">
              <a:buNone/>
            </a:pPr>
            <a:r>
              <a:rPr lang="en-US" sz="1500" dirty="0">
                <a:solidFill>
                  <a:srgbClr val="4A545E"/>
                </a:solidFill>
                <a:latin typeface="Calibri" pitchFamily="34" charset="0"/>
                <a:ea typeface="Calibri" pitchFamily="34" charset="-122"/>
                <a:cs typeface="Calibri" pitchFamily="34" charset="-120"/>
              </a:rPr>
              <a:t>Az AI is hibázik – de a saját tesztjei és böngészős ellenőrzése még a bemutatás előtt megtalálta ezeket.</a:t>
            </a:r>
            <a:endParaRPr lang="en-US" sz="1500" dirty="0"/>
          </a:p>
        </p:txBody>
      </p:sp>
      <p:sp>
        <p:nvSpPr>
          <p:cNvPr id="4" name="Félrevezető szöveg"/>
          <p:cNvSpPr/>
          <p:nvPr/>
        </p:nvSpPr>
        <p:spPr>
          <a:xfrm>
            <a:off x="457200" y="1325880"/>
            <a:ext cx="4023360" cy="1508760"/>
          </a:xfrm>
          <a:prstGeom prst="roundRect">
            <a:avLst>
              <a:gd name="adj" fmla="val 7273"/>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5" name="Félrevezető szöveg kör"/>
          <p:cNvSpPr/>
          <p:nvPr/>
        </p:nvSpPr>
        <p:spPr>
          <a:xfrm>
            <a:off x="640080" y="1508760"/>
            <a:ext cx="420624" cy="420624"/>
          </a:xfrm>
          <a:prstGeom prst="ellipse">
            <a:avLst/>
          </a:prstGeom>
          <a:solidFill>
            <a:srgbClr val="FFF4D6"/>
          </a:solidFill>
          <a:ln w="12700">
            <a:solidFill>
              <a:srgbClr val="FFF4D6"/>
            </a:solidFill>
            <a:prstDash val="solid"/>
          </a:ln>
        </p:spPr>
      </p:sp>
      <p:pic>
        <p:nvPicPr>
          <p:cNvPr id="6" name="Félrevezető szöveg ikon" descr="preencoded.png">    </p:cNvPr>
          <p:cNvPicPr>
            <a:picLocks noChangeAspect="1"/>
          </p:cNvPicPr>
          <p:nvPr/>
        </p:nvPicPr>
        <p:blipFill>
          <a:blip r:embed="rId1"/>
          <a:stretch>
            <a:fillRect/>
          </a:stretch>
        </p:blipFill>
        <p:spPr>
          <a:xfrm>
            <a:off x="745236" y="1613916"/>
            <a:ext cx="210312" cy="210312"/>
          </a:xfrm>
          <a:prstGeom prst="rect">
            <a:avLst/>
          </a:prstGeom>
        </p:spPr>
      </p:pic>
      <p:sp>
        <p:nvSpPr>
          <p:cNvPr id="7" name="Text 4"/>
          <p:cNvSpPr txBox="1"/>
          <p:nvPr/>
        </p:nvSpPr>
        <p:spPr>
          <a:xfrm>
            <a:off x="1207008" y="1572768"/>
            <a:ext cx="3108960"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Félrevezető szöveg</a:t>
            </a:r>
            <a:endParaRPr lang="en-US" sz="1400" dirty="0"/>
          </a:p>
        </p:txBody>
      </p:sp>
      <p:sp>
        <p:nvSpPr>
          <p:cNvPr id="8" name="Text 5"/>
          <p:cNvSpPr txBox="1"/>
          <p:nvPr/>
        </p:nvSpPr>
        <p:spPr>
          <a:xfrm>
            <a:off x="1207008" y="1947672"/>
            <a:ext cx="3108960" cy="804672"/>
          </a:xfrm>
          <a:prstGeom prst="rect">
            <a:avLst/>
          </a:prstGeom>
          <a:noFill/>
          <a:ln/>
        </p:spPr>
        <p:txBody>
          <a:bodyPr wrap="square" lIns="0" tIns="0" rIns="0" bIns="0" rtlCol="0" anchor="t"/>
          <a:lstStyle/>
          <a:p>
            <a:pPr indent="0" marL="0">
              <a:spcAft>
                <a:spcPts val="600"/>
              </a:spcAft>
              <a:buNone/>
            </a:pPr>
            <a:r>
              <a:rPr lang="en-US" sz="1200" b="1" dirty="0">
                <a:solidFill>
                  <a:srgbClr val="C0392B"/>
                </a:solidFill>
                <a:latin typeface="Calibri" pitchFamily="34" charset="0"/>
                <a:ea typeface="Calibri" pitchFamily="34" charset="-122"/>
                <a:cs typeface="Calibri" pitchFamily="34" charset="-120"/>
              </a:rPr>
              <a:t>Előtte: </a:t>
            </a:r>
            <a:pPr indent="0" marL="0">
              <a:spcAft>
                <a:spcPts val="600"/>
              </a:spcAft>
              <a:buNone/>
            </a:pPr>
            <a:r>
              <a:rPr lang="en-US" sz="1200" dirty="0">
                <a:solidFill>
                  <a:srgbClr val="30373D"/>
                </a:solidFill>
                <a:latin typeface="Calibri" pitchFamily="34" charset="0"/>
                <a:ea typeface="Calibri" pitchFamily="34" charset="-122"/>
                <a:cs typeface="Calibri" pitchFamily="34" charset="-120"/>
              </a:rPr>
              <a:t>„Hiányzik: 25 380 Ft” egy még nem esedékes díjnál</a:t>
            </a:r>
            <a:endParaRPr lang="en-US" sz="1200" dirty="0"/>
          </a:p>
          <a:p>
            <a:pPr indent="0" marL="0">
              <a:spcAft>
                <a:spcPts val="600"/>
              </a:spcAft>
              <a:buNone/>
            </a:pPr>
            <a:r>
              <a:rPr lang="en-US" sz="1200" b="1" dirty="0">
                <a:solidFill>
                  <a:srgbClr val="00875F"/>
                </a:solidFill>
                <a:latin typeface="Calibri" pitchFamily="34" charset="0"/>
                <a:ea typeface="Calibri" pitchFamily="34" charset="-122"/>
                <a:cs typeface="Calibri" pitchFamily="34" charset="-120"/>
              </a:rPr>
              <a:t>Utána: </a:t>
            </a:r>
            <a:pPr indent="0" marL="0">
              <a:spcAft>
                <a:spcPts val="600"/>
              </a:spcAft>
              <a:buNone/>
            </a:pPr>
            <a:r>
              <a:rPr lang="en-US" sz="1200" dirty="0">
                <a:solidFill>
                  <a:srgbClr val="30373D"/>
                </a:solidFill>
                <a:latin typeface="Calibri" pitchFamily="34" charset="0"/>
                <a:ea typeface="Calibri" pitchFamily="34" charset="-122"/>
                <a:cs typeface="Calibri" pitchFamily="34" charset="-120"/>
              </a:rPr>
              <a:t>„Fizetendő: 25 380 Ft”</a:t>
            </a:r>
            <a:endParaRPr lang="en-US" sz="1200" dirty="0"/>
          </a:p>
        </p:txBody>
      </p:sp>
      <p:sp>
        <p:nvSpPr>
          <p:cNvPr id="9" name="Apró tipográfiai hibák"/>
          <p:cNvSpPr/>
          <p:nvPr/>
        </p:nvSpPr>
        <p:spPr>
          <a:xfrm>
            <a:off x="4663440" y="1325880"/>
            <a:ext cx="4023360" cy="1508760"/>
          </a:xfrm>
          <a:prstGeom prst="roundRect">
            <a:avLst>
              <a:gd name="adj" fmla="val 7273"/>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0" name="Apró tipográfiai hibák kör"/>
          <p:cNvSpPr/>
          <p:nvPr/>
        </p:nvSpPr>
        <p:spPr>
          <a:xfrm>
            <a:off x="4846320" y="1508760"/>
            <a:ext cx="420624" cy="420624"/>
          </a:xfrm>
          <a:prstGeom prst="ellipse">
            <a:avLst/>
          </a:prstGeom>
          <a:solidFill>
            <a:srgbClr val="FFF4D6"/>
          </a:solidFill>
          <a:ln w="12700">
            <a:solidFill>
              <a:srgbClr val="FFF4D6"/>
            </a:solidFill>
            <a:prstDash val="solid"/>
          </a:ln>
        </p:spPr>
      </p:sp>
      <p:pic>
        <p:nvPicPr>
          <p:cNvPr id="11" name="Apró tipográfiai hibák ikon" descr="preencoded.png">    </p:cNvPr>
          <p:cNvPicPr>
            <a:picLocks noChangeAspect="1"/>
          </p:cNvPicPr>
          <p:nvPr/>
        </p:nvPicPr>
        <p:blipFill>
          <a:blip r:embed="rId2"/>
          <a:stretch>
            <a:fillRect/>
          </a:stretch>
        </p:blipFill>
        <p:spPr>
          <a:xfrm>
            <a:off x="4951476" y="1613916"/>
            <a:ext cx="210312" cy="210312"/>
          </a:xfrm>
          <a:prstGeom prst="rect">
            <a:avLst/>
          </a:prstGeom>
        </p:spPr>
      </p:pic>
      <p:sp>
        <p:nvSpPr>
          <p:cNvPr id="12" name="Text 8"/>
          <p:cNvSpPr txBox="1"/>
          <p:nvPr/>
        </p:nvSpPr>
        <p:spPr>
          <a:xfrm>
            <a:off x="5413248" y="1572768"/>
            <a:ext cx="3108960"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Apró tipográfiai hibák</a:t>
            </a:r>
            <a:endParaRPr lang="en-US" sz="1400" dirty="0"/>
          </a:p>
        </p:txBody>
      </p:sp>
      <p:sp>
        <p:nvSpPr>
          <p:cNvPr id="13" name="Text 9"/>
          <p:cNvSpPr txBox="1"/>
          <p:nvPr/>
        </p:nvSpPr>
        <p:spPr>
          <a:xfrm>
            <a:off x="5413248" y="1947672"/>
            <a:ext cx="3108960" cy="804672"/>
          </a:xfrm>
          <a:prstGeom prst="rect">
            <a:avLst/>
          </a:prstGeom>
          <a:noFill/>
          <a:ln/>
        </p:spPr>
        <p:txBody>
          <a:bodyPr wrap="square" lIns="0" tIns="0" rIns="0" bIns="0" rtlCol="0" anchor="t"/>
          <a:lstStyle/>
          <a:p>
            <a:pPr indent="0" marL="0">
              <a:spcAft>
                <a:spcPts val="600"/>
              </a:spcAft>
              <a:buNone/>
            </a:pPr>
            <a:r>
              <a:rPr lang="en-US" sz="1200" b="1" dirty="0">
                <a:solidFill>
                  <a:srgbClr val="C0392B"/>
                </a:solidFill>
                <a:latin typeface="Calibri" pitchFamily="34" charset="0"/>
                <a:ea typeface="Calibri" pitchFamily="34" charset="-122"/>
                <a:cs typeface="Calibri" pitchFamily="34" charset="-120"/>
              </a:rPr>
              <a:t>Előtte: </a:t>
            </a:r>
            <a:pPr indent="0" marL="0">
              <a:spcAft>
                <a:spcPts val="600"/>
              </a:spcAft>
              <a:buNone/>
            </a:pPr>
            <a:r>
              <a:rPr lang="en-US" sz="1200" dirty="0">
                <a:solidFill>
                  <a:srgbClr val="30373D"/>
                </a:solidFill>
                <a:latin typeface="Calibri" pitchFamily="34" charset="0"/>
                <a:ea typeface="Calibri" pitchFamily="34" charset="-122"/>
                <a:cs typeface="Calibri" pitchFamily="34" charset="-120"/>
              </a:rPr>
              <a:t>„január 1.. Fizetési mód”, „6166 Ft”</a:t>
            </a:r>
            <a:endParaRPr lang="en-US" sz="1200" dirty="0"/>
          </a:p>
          <a:p>
            <a:pPr indent="0" marL="0">
              <a:spcAft>
                <a:spcPts val="600"/>
              </a:spcAft>
              <a:buNone/>
            </a:pPr>
            <a:r>
              <a:rPr lang="en-US" sz="1200" b="1" dirty="0">
                <a:solidFill>
                  <a:srgbClr val="00875F"/>
                </a:solidFill>
                <a:latin typeface="Calibri" pitchFamily="34" charset="0"/>
                <a:ea typeface="Calibri" pitchFamily="34" charset="-122"/>
                <a:cs typeface="Calibri" pitchFamily="34" charset="-120"/>
              </a:rPr>
              <a:t>Utána: </a:t>
            </a:r>
            <a:pPr indent="0" marL="0">
              <a:spcAft>
                <a:spcPts val="600"/>
              </a:spcAft>
              <a:buNone/>
            </a:pPr>
            <a:r>
              <a:rPr lang="en-US" sz="1200" dirty="0">
                <a:solidFill>
                  <a:srgbClr val="30373D"/>
                </a:solidFill>
                <a:latin typeface="Calibri" pitchFamily="34" charset="0"/>
                <a:ea typeface="Calibri" pitchFamily="34" charset="-122"/>
                <a:cs typeface="Calibri" pitchFamily="34" charset="-120"/>
              </a:rPr>
              <a:t>egy pont, egységes „6 166 Ft”</a:t>
            </a:r>
            <a:endParaRPr lang="en-US" sz="1200" dirty="0"/>
          </a:p>
        </p:txBody>
      </p:sp>
      <p:sp>
        <p:nvSpPr>
          <p:cNvPr id="14" name="Mobil tördelés"/>
          <p:cNvSpPr/>
          <p:nvPr/>
        </p:nvSpPr>
        <p:spPr>
          <a:xfrm>
            <a:off x="457200" y="3017520"/>
            <a:ext cx="4023360" cy="1508760"/>
          </a:xfrm>
          <a:prstGeom prst="roundRect">
            <a:avLst>
              <a:gd name="adj" fmla="val 7273"/>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5" name="Mobil tördelés kör"/>
          <p:cNvSpPr/>
          <p:nvPr/>
        </p:nvSpPr>
        <p:spPr>
          <a:xfrm>
            <a:off x="640080" y="3200400"/>
            <a:ext cx="420624" cy="420624"/>
          </a:xfrm>
          <a:prstGeom prst="ellipse">
            <a:avLst/>
          </a:prstGeom>
          <a:solidFill>
            <a:srgbClr val="FFF4D6"/>
          </a:solidFill>
          <a:ln w="12700">
            <a:solidFill>
              <a:srgbClr val="FFF4D6"/>
            </a:solidFill>
            <a:prstDash val="solid"/>
          </a:ln>
        </p:spPr>
      </p:sp>
      <p:pic>
        <p:nvPicPr>
          <p:cNvPr id="16" name="Mobil tördelés ikon" descr="preencoded.png">    </p:cNvPr>
          <p:cNvPicPr>
            <a:picLocks noChangeAspect="1"/>
          </p:cNvPicPr>
          <p:nvPr/>
        </p:nvPicPr>
        <p:blipFill>
          <a:blip r:embed="rId3"/>
          <a:stretch>
            <a:fillRect/>
          </a:stretch>
        </p:blipFill>
        <p:spPr>
          <a:xfrm>
            <a:off x="745236" y="3305556"/>
            <a:ext cx="210312" cy="210312"/>
          </a:xfrm>
          <a:prstGeom prst="rect">
            <a:avLst/>
          </a:prstGeom>
        </p:spPr>
      </p:pic>
      <p:sp>
        <p:nvSpPr>
          <p:cNvPr id="17" name="Text 12"/>
          <p:cNvSpPr txBox="1"/>
          <p:nvPr/>
        </p:nvSpPr>
        <p:spPr>
          <a:xfrm>
            <a:off x="1207008" y="3264408"/>
            <a:ext cx="3108960"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Mobil tördelés</a:t>
            </a:r>
            <a:endParaRPr lang="en-US" sz="1400" dirty="0"/>
          </a:p>
        </p:txBody>
      </p:sp>
      <p:sp>
        <p:nvSpPr>
          <p:cNvPr id="18" name="Text 13"/>
          <p:cNvSpPr txBox="1"/>
          <p:nvPr/>
        </p:nvSpPr>
        <p:spPr>
          <a:xfrm>
            <a:off x="1207008" y="3639312"/>
            <a:ext cx="3108960" cy="804672"/>
          </a:xfrm>
          <a:prstGeom prst="rect">
            <a:avLst/>
          </a:prstGeom>
          <a:noFill/>
          <a:ln/>
        </p:spPr>
        <p:txBody>
          <a:bodyPr wrap="square" lIns="0" tIns="0" rIns="0" bIns="0" rtlCol="0" anchor="t"/>
          <a:lstStyle/>
          <a:p>
            <a:pPr indent="0" marL="0">
              <a:spcAft>
                <a:spcPts val="600"/>
              </a:spcAft>
              <a:buNone/>
            </a:pPr>
            <a:r>
              <a:rPr lang="en-US" sz="1200" b="1" dirty="0">
                <a:solidFill>
                  <a:srgbClr val="C0392B"/>
                </a:solidFill>
                <a:latin typeface="Calibri" pitchFamily="34" charset="0"/>
                <a:ea typeface="Calibri" pitchFamily="34" charset="-122"/>
                <a:cs typeface="Calibri" pitchFamily="34" charset="-120"/>
              </a:rPr>
              <a:t>Előtte: </a:t>
            </a:r>
            <a:pPr indent="0" marL="0">
              <a:spcAft>
                <a:spcPts val="600"/>
              </a:spcAft>
              <a:buNone/>
            </a:pPr>
            <a:r>
              <a:rPr lang="en-US" sz="1200" dirty="0">
                <a:solidFill>
                  <a:srgbClr val="30373D"/>
                </a:solidFill>
                <a:latin typeface="Calibri" pitchFamily="34" charset="0"/>
                <a:ea typeface="Calibri" pitchFamily="34" charset="-122"/>
                <a:cs typeface="Calibri" pitchFamily="34" charset="-120"/>
              </a:rPr>
              <a:t>Három sorba törő tételcímek</a:t>
            </a:r>
            <a:endParaRPr lang="en-US" sz="1200" dirty="0"/>
          </a:p>
          <a:p>
            <a:pPr indent="0" marL="0">
              <a:spcAft>
                <a:spcPts val="600"/>
              </a:spcAft>
              <a:buNone/>
            </a:pPr>
            <a:r>
              <a:rPr lang="en-US" sz="1200" b="1" dirty="0">
                <a:solidFill>
                  <a:srgbClr val="00875F"/>
                </a:solidFill>
                <a:latin typeface="Calibri" pitchFamily="34" charset="0"/>
                <a:ea typeface="Calibri" pitchFamily="34" charset="-122"/>
                <a:cs typeface="Calibri" pitchFamily="34" charset="-120"/>
              </a:rPr>
              <a:t>Utána: </a:t>
            </a:r>
            <a:pPr indent="0" marL="0">
              <a:spcAft>
                <a:spcPts val="600"/>
              </a:spcAft>
              <a:buNone/>
            </a:pPr>
            <a:r>
              <a:rPr lang="en-US" sz="1200" dirty="0">
                <a:solidFill>
                  <a:srgbClr val="30373D"/>
                </a:solidFill>
                <a:latin typeface="Calibri" pitchFamily="34" charset="0"/>
                <a:ea typeface="Calibri" pitchFamily="34" charset="-122"/>
                <a:cs typeface="Calibri" pitchFamily="34" charset="-120"/>
              </a:rPr>
              <a:t>az összeg a dátum sorába került</a:t>
            </a:r>
            <a:endParaRPr lang="en-US" sz="1200" dirty="0"/>
          </a:p>
        </p:txBody>
      </p:sp>
      <p:sp>
        <p:nvSpPr>
          <p:cNvPr id="19" name="Elakadt fejlesztői szerver"/>
          <p:cNvSpPr/>
          <p:nvPr/>
        </p:nvSpPr>
        <p:spPr>
          <a:xfrm>
            <a:off x="4663440" y="3017520"/>
            <a:ext cx="4023360" cy="1508760"/>
          </a:xfrm>
          <a:prstGeom prst="roundRect">
            <a:avLst>
              <a:gd name="adj" fmla="val 7273"/>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20" name="Elakadt fejlesztői szerver kör"/>
          <p:cNvSpPr/>
          <p:nvPr/>
        </p:nvSpPr>
        <p:spPr>
          <a:xfrm>
            <a:off x="4846320" y="3200400"/>
            <a:ext cx="420624" cy="420624"/>
          </a:xfrm>
          <a:prstGeom prst="ellipse">
            <a:avLst/>
          </a:prstGeom>
          <a:solidFill>
            <a:srgbClr val="FFF4D6"/>
          </a:solidFill>
          <a:ln w="12700">
            <a:solidFill>
              <a:srgbClr val="FFF4D6"/>
            </a:solidFill>
            <a:prstDash val="solid"/>
          </a:ln>
        </p:spPr>
      </p:sp>
      <p:pic>
        <p:nvPicPr>
          <p:cNvPr id="21" name="Elakadt fejlesztői szerver ikon" descr="preencoded.png">    </p:cNvPr>
          <p:cNvPicPr>
            <a:picLocks noChangeAspect="1"/>
          </p:cNvPicPr>
          <p:nvPr/>
        </p:nvPicPr>
        <p:blipFill>
          <a:blip r:embed="rId4"/>
          <a:stretch>
            <a:fillRect/>
          </a:stretch>
        </p:blipFill>
        <p:spPr>
          <a:xfrm>
            <a:off x="4951476" y="3305556"/>
            <a:ext cx="210312" cy="210312"/>
          </a:xfrm>
          <a:prstGeom prst="rect">
            <a:avLst/>
          </a:prstGeom>
        </p:spPr>
      </p:pic>
      <p:sp>
        <p:nvSpPr>
          <p:cNvPr id="22" name="Text 16"/>
          <p:cNvSpPr txBox="1"/>
          <p:nvPr/>
        </p:nvSpPr>
        <p:spPr>
          <a:xfrm>
            <a:off x="5413248" y="3264408"/>
            <a:ext cx="3108960"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Elakadt fejlesztői szerver</a:t>
            </a:r>
            <a:endParaRPr lang="en-US" sz="1400" dirty="0"/>
          </a:p>
        </p:txBody>
      </p:sp>
      <p:sp>
        <p:nvSpPr>
          <p:cNvPr id="23" name="Text 17"/>
          <p:cNvSpPr txBox="1"/>
          <p:nvPr/>
        </p:nvSpPr>
        <p:spPr>
          <a:xfrm>
            <a:off x="5413248" y="3639312"/>
            <a:ext cx="3108960" cy="804672"/>
          </a:xfrm>
          <a:prstGeom prst="rect">
            <a:avLst/>
          </a:prstGeom>
          <a:noFill/>
          <a:ln/>
        </p:spPr>
        <p:txBody>
          <a:bodyPr wrap="square" lIns="0" tIns="0" rIns="0" bIns="0" rtlCol="0" anchor="t"/>
          <a:lstStyle/>
          <a:p>
            <a:pPr indent="0" marL="0">
              <a:spcAft>
                <a:spcPts val="600"/>
              </a:spcAft>
              <a:buNone/>
            </a:pPr>
            <a:r>
              <a:rPr lang="en-US" sz="1200" b="1" dirty="0">
                <a:solidFill>
                  <a:srgbClr val="C0392B"/>
                </a:solidFill>
                <a:latin typeface="Calibri" pitchFamily="34" charset="0"/>
                <a:ea typeface="Calibri" pitchFamily="34" charset="-122"/>
                <a:cs typeface="Calibri" pitchFamily="34" charset="-120"/>
              </a:rPr>
              <a:t>Előtte: </a:t>
            </a:r>
            <a:pPr indent="0" marL="0">
              <a:spcAft>
                <a:spcPts val="600"/>
              </a:spcAft>
              <a:buNone/>
            </a:pPr>
            <a:r>
              <a:rPr lang="en-US" sz="1200" dirty="0">
                <a:solidFill>
                  <a:srgbClr val="30373D"/>
                </a:solidFill>
                <a:latin typeface="Calibri" pitchFamily="34" charset="0"/>
                <a:ea typeface="Calibri" pitchFamily="34" charset="-122"/>
                <a:cs typeface="Calibri" pitchFamily="34" charset="-120"/>
              </a:rPr>
              <a:t>Üres oldal egy módosítás után</a:t>
            </a:r>
            <a:endParaRPr lang="en-US" sz="1200" dirty="0"/>
          </a:p>
          <a:p>
            <a:pPr indent="0" marL="0">
              <a:spcAft>
                <a:spcPts val="600"/>
              </a:spcAft>
              <a:buNone/>
            </a:pPr>
            <a:r>
              <a:rPr lang="en-US" sz="1200" b="1" dirty="0">
                <a:solidFill>
                  <a:srgbClr val="00875F"/>
                </a:solidFill>
                <a:latin typeface="Calibri" pitchFamily="34" charset="0"/>
                <a:ea typeface="Calibri" pitchFamily="34" charset="-122"/>
                <a:cs typeface="Calibri" pitchFamily="34" charset="-120"/>
              </a:rPr>
              <a:t>Utána: </a:t>
            </a:r>
            <a:pPr indent="0" marL="0">
              <a:spcAft>
                <a:spcPts val="600"/>
              </a:spcAft>
              <a:buNone/>
            </a:pPr>
            <a:r>
              <a:rPr lang="en-US" sz="1200" dirty="0">
                <a:solidFill>
                  <a:srgbClr val="30373D"/>
                </a:solidFill>
                <a:latin typeface="Calibri" pitchFamily="34" charset="0"/>
                <a:ea typeface="Calibri" pitchFamily="34" charset="-122"/>
                <a:cs typeface="Calibri" pitchFamily="34" charset="-120"/>
              </a:rPr>
              <a:t>újraindítás, újraellenőrzés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ím"/>
          <p:cNvSpPr txBox="1"/>
          <p:nvPr/>
        </p:nvSpPr>
        <p:spPr>
          <a:xfrm>
            <a:off x="457200" y="292608"/>
            <a:ext cx="7680960" cy="502920"/>
          </a:xfrm>
          <a:prstGeom prst="rect">
            <a:avLst/>
          </a:prstGeom>
          <a:noFill/>
          <a:ln/>
        </p:spPr>
        <p:txBody>
          <a:bodyPr wrap="square" lIns="0" tIns="0" rIns="0" bIns="0" rtlCol="0" anchor="t"/>
          <a:lstStyle/>
          <a:p>
            <a:pPr indent="0" marL="0">
              <a:buNone/>
            </a:pPr>
            <a:r>
              <a:rPr lang="en-US" sz="2600" b="1" dirty="0">
                <a:solidFill>
                  <a:srgbClr val="283168"/>
                </a:solidFill>
                <a:latin typeface="Century Gothic" pitchFamily="34" charset="0"/>
                <a:ea typeface="Century Gothic" pitchFamily="34" charset="-122"/>
                <a:cs typeface="Century Gothic" pitchFamily="34" charset="-120"/>
              </a:rPr>
              <a:t>Tanulságok</a:t>
            </a:r>
            <a:endParaRPr lang="en-US" sz="2600" dirty="0"/>
          </a:p>
        </p:txBody>
      </p:sp>
      <p:sp>
        <p:nvSpPr>
          <p:cNvPr id="3" name="Tervvel kezdj, ne kóddal"/>
          <p:cNvSpPr/>
          <p:nvPr/>
        </p:nvSpPr>
        <p:spPr>
          <a:xfrm>
            <a:off x="457200" y="1051560"/>
            <a:ext cx="2624328" cy="1691640"/>
          </a:xfrm>
          <a:prstGeom prst="roundRect">
            <a:avLst>
              <a:gd name="adj" fmla="val 6486"/>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4" name="Tervvel kezdj, ne kóddal kör"/>
          <p:cNvSpPr/>
          <p:nvPr/>
        </p:nvSpPr>
        <p:spPr>
          <a:xfrm>
            <a:off x="658368" y="1252728"/>
            <a:ext cx="475488" cy="475488"/>
          </a:xfrm>
          <a:prstGeom prst="ellipse">
            <a:avLst/>
          </a:prstGeom>
          <a:solidFill>
            <a:srgbClr val="283168"/>
          </a:solidFill>
          <a:ln w="12700">
            <a:solidFill>
              <a:srgbClr val="283168"/>
            </a:solidFill>
            <a:prstDash val="solid"/>
          </a:ln>
        </p:spPr>
      </p:sp>
      <p:pic>
        <p:nvPicPr>
          <p:cNvPr id="5" name="Tervvel kezdj, ne kóddal ikon" descr="preencoded.png">    </p:cNvPr>
          <p:cNvPicPr>
            <a:picLocks noChangeAspect="1"/>
          </p:cNvPicPr>
          <p:nvPr/>
        </p:nvPicPr>
        <p:blipFill>
          <a:blip r:embed="rId1"/>
          <a:stretch>
            <a:fillRect/>
          </a:stretch>
        </p:blipFill>
        <p:spPr>
          <a:xfrm>
            <a:off x="777240" y="1371600"/>
            <a:ext cx="237744" cy="237744"/>
          </a:xfrm>
          <a:prstGeom prst="rect">
            <a:avLst/>
          </a:prstGeom>
        </p:spPr>
      </p:pic>
      <p:sp>
        <p:nvSpPr>
          <p:cNvPr id="6" name="Text 3"/>
          <p:cNvSpPr txBox="1"/>
          <p:nvPr/>
        </p:nvSpPr>
        <p:spPr>
          <a:xfrm>
            <a:off x="658368" y="1856232"/>
            <a:ext cx="2258568"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Tervvel kezdj, ne kóddal</a:t>
            </a:r>
            <a:endParaRPr lang="en-US" sz="1400" dirty="0"/>
          </a:p>
        </p:txBody>
      </p:sp>
      <p:sp>
        <p:nvSpPr>
          <p:cNvPr id="7" name="Text 4"/>
          <p:cNvSpPr txBox="1"/>
          <p:nvPr/>
        </p:nvSpPr>
        <p:spPr>
          <a:xfrm>
            <a:off x="658368" y="2148840"/>
            <a:ext cx="2258568" cy="54864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Tisztázó kérdések és jóváhagyott terv: a scope már az elején szűkült.</a:t>
            </a:r>
            <a:endParaRPr lang="en-US" sz="1200" dirty="0"/>
          </a:p>
        </p:txBody>
      </p:sp>
      <p:sp>
        <p:nvSpPr>
          <p:cNvPr id="8" name="Kis lépések, kontrollpontok"/>
          <p:cNvSpPr/>
          <p:nvPr/>
        </p:nvSpPr>
        <p:spPr>
          <a:xfrm>
            <a:off x="3264408" y="1051560"/>
            <a:ext cx="2624328" cy="1691640"/>
          </a:xfrm>
          <a:prstGeom prst="roundRect">
            <a:avLst>
              <a:gd name="adj" fmla="val 6486"/>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9" name="Kis lépések, kontrollpontok kör"/>
          <p:cNvSpPr/>
          <p:nvPr/>
        </p:nvSpPr>
        <p:spPr>
          <a:xfrm>
            <a:off x="3465576" y="1252728"/>
            <a:ext cx="475488" cy="475488"/>
          </a:xfrm>
          <a:prstGeom prst="ellipse">
            <a:avLst/>
          </a:prstGeom>
          <a:solidFill>
            <a:srgbClr val="283168"/>
          </a:solidFill>
          <a:ln w="12700">
            <a:solidFill>
              <a:srgbClr val="283168"/>
            </a:solidFill>
            <a:prstDash val="solid"/>
          </a:ln>
        </p:spPr>
      </p:sp>
      <p:pic>
        <p:nvPicPr>
          <p:cNvPr id="10" name="Kis lépések, kontrollpontok ikon" descr="preencoded.png">    </p:cNvPr>
          <p:cNvPicPr>
            <a:picLocks noChangeAspect="1"/>
          </p:cNvPicPr>
          <p:nvPr/>
        </p:nvPicPr>
        <p:blipFill>
          <a:blip r:embed="rId2"/>
          <a:stretch>
            <a:fillRect/>
          </a:stretch>
        </p:blipFill>
        <p:spPr>
          <a:xfrm>
            <a:off x="3584448" y="1371600"/>
            <a:ext cx="237744" cy="237744"/>
          </a:xfrm>
          <a:prstGeom prst="rect">
            <a:avLst/>
          </a:prstGeom>
        </p:spPr>
      </p:pic>
      <p:sp>
        <p:nvSpPr>
          <p:cNvPr id="11" name="Text 7"/>
          <p:cNvSpPr txBox="1"/>
          <p:nvPr/>
        </p:nvSpPr>
        <p:spPr>
          <a:xfrm>
            <a:off x="3465576" y="1856232"/>
            <a:ext cx="2258568"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Kis lépések, kontrollpontok</a:t>
            </a:r>
            <a:endParaRPr lang="en-US" sz="1400" dirty="0"/>
          </a:p>
        </p:txBody>
      </p:sp>
      <p:sp>
        <p:nvSpPr>
          <p:cNvPr id="12" name="Text 8"/>
          <p:cNvSpPr txBox="1"/>
          <p:nvPr/>
        </p:nvSpPr>
        <p:spPr>
          <a:xfrm>
            <a:off x="3465576" y="2148840"/>
            <a:ext cx="2258568" cy="54864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Minden allépés után bemutatás – az irányítás végig nálad van.</a:t>
            </a:r>
            <a:endParaRPr lang="en-US" sz="1200" dirty="0"/>
          </a:p>
        </p:txBody>
      </p:sp>
      <p:sp>
        <p:nvSpPr>
          <p:cNvPr id="13" name="Tartalom előbb, mint a UI"/>
          <p:cNvSpPr/>
          <p:nvPr/>
        </p:nvSpPr>
        <p:spPr>
          <a:xfrm>
            <a:off x="6071616" y="1051560"/>
            <a:ext cx="2624328" cy="1691640"/>
          </a:xfrm>
          <a:prstGeom prst="roundRect">
            <a:avLst>
              <a:gd name="adj" fmla="val 6486"/>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4" name="Tartalom előbb, mint a UI kör"/>
          <p:cNvSpPr/>
          <p:nvPr/>
        </p:nvSpPr>
        <p:spPr>
          <a:xfrm>
            <a:off x="6272784" y="1252728"/>
            <a:ext cx="475488" cy="475488"/>
          </a:xfrm>
          <a:prstGeom prst="ellipse">
            <a:avLst/>
          </a:prstGeom>
          <a:solidFill>
            <a:srgbClr val="283168"/>
          </a:solidFill>
          <a:ln w="12700">
            <a:solidFill>
              <a:srgbClr val="283168"/>
            </a:solidFill>
            <a:prstDash val="solid"/>
          </a:ln>
        </p:spPr>
      </p:sp>
      <p:pic>
        <p:nvPicPr>
          <p:cNvPr id="15" name="Tartalom előbb, mint a UI ikon" descr="preencoded.png">    </p:cNvPr>
          <p:cNvPicPr>
            <a:picLocks noChangeAspect="1"/>
          </p:cNvPicPr>
          <p:nvPr/>
        </p:nvPicPr>
        <p:blipFill>
          <a:blip r:embed="rId3"/>
          <a:stretch>
            <a:fillRect/>
          </a:stretch>
        </p:blipFill>
        <p:spPr>
          <a:xfrm>
            <a:off x="6391656" y="1371600"/>
            <a:ext cx="237744" cy="237744"/>
          </a:xfrm>
          <a:prstGeom prst="rect">
            <a:avLst/>
          </a:prstGeom>
        </p:spPr>
      </p:pic>
      <p:sp>
        <p:nvSpPr>
          <p:cNvPr id="16" name="Text 11"/>
          <p:cNvSpPr txBox="1"/>
          <p:nvPr/>
        </p:nvSpPr>
        <p:spPr>
          <a:xfrm>
            <a:off x="6272784" y="1856232"/>
            <a:ext cx="2258568"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Tartalom előbb, mint a UI</a:t>
            </a:r>
            <a:endParaRPr lang="en-US" sz="1400" dirty="0"/>
          </a:p>
        </p:txBody>
      </p:sp>
      <p:sp>
        <p:nvSpPr>
          <p:cNvPr id="17" name="Text 12"/>
          <p:cNvSpPr txBox="1"/>
          <p:nvPr/>
        </p:nvSpPr>
        <p:spPr>
          <a:xfrm>
            <a:off x="6272784" y="2148840"/>
            <a:ext cx="2258568" cy="54864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A mintaadat és a szabályok a saját példáidból épüljenek.</a:t>
            </a:r>
            <a:endParaRPr lang="en-US" sz="1200" dirty="0"/>
          </a:p>
        </p:txBody>
      </p:sp>
      <p:sp>
        <p:nvSpPr>
          <p:cNvPr id="18" name="Feltételezések írásban"/>
          <p:cNvSpPr/>
          <p:nvPr/>
        </p:nvSpPr>
        <p:spPr>
          <a:xfrm>
            <a:off x="457200" y="2926080"/>
            <a:ext cx="2624328" cy="1691640"/>
          </a:xfrm>
          <a:prstGeom prst="roundRect">
            <a:avLst>
              <a:gd name="adj" fmla="val 6486"/>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19" name="Feltételezések írásban kör"/>
          <p:cNvSpPr/>
          <p:nvPr/>
        </p:nvSpPr>
        <p:spPr>
          <a:xfrm>
            <a:off x="658368" y="3127248"/>
            <a:ext cx="475488" cy="475488"/>
          </a:xfrm>
          <a:prstGeom prst="ellipse">
            <a:avLst/>
          </a:prstGeom>
          <a:solidFill>
            <a:srgbClr val="283168"/>
          </a:solidFill>
          <a:ln w="12700">
            <a:solidFill>
              <a:srgbClr val="283168"/>
            </a:solidFill>
            <a:prstDash val="solid"/>
          </a:ln>
        </p:spPr>
      </p:sp>
      <p:pic>
        <p:nvPicPr>
          <p:cNvPr id="20" name="Feltételezések írásban ikon" descr="preencoded.png">    </p:cNvPr>
          <p:cNvPicPr>
            <a:picLocks noChangeAspect="1"/>
          </p:cNvPicPr>
          <p:nvPr/>
        </p:nvPicPr>
        <p:blipFill>
          <a:blip r:embed="rId4"/>
          <a:stretch>
            <a:fillRect/>
          </a:stretch>
        </p:blipFill>
        <p:spPr>
          <a:xfrm>
            <a:off x="777240" y="3246120"/>
            <a:ext cx="237744" cy="237744"/>
          </a:xfrm>
          <a:prstGeom prst="rect">
            <a:avLst/>
          </a:prstGeom>
        </p:spPr>
      </p:pic>
      <p:sp>
        <p:nvSpPr>
          <p:cNvPr id="21" name="Text 15"/>
          <p:cNvSpPr txBox="1"/>
          <p:nvPr/>
        </p:nvSpPr>
        <p:spPr>
          <a:xfrm>
            <a:off x="658368" y="3730752"/>
            <a:ext cx="2258568"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Feltételezések írásban</a:t>
            </a:r>
            <a:endParaRPr lang="en-US" sz="1400" dirty="0"/>
          </a:p>
        </p:txBody>
      </p:sp>
      <p:sp>
        <p:nvSpPr>
          <p:cNvPr id="22" name="Text 16"/>
          <p:cNvSpPr txBox="1"/>
          <p:nvPr/>
        </p:nvSpPr>
        <p:spPr>
          <a:xfrm>
            <a:off x="658368" y="4023360"/>
            <a:ext cx="2258568" cy="54864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Amit nem tudsz, az AI jelölje feltételezésként – te hagyod jóvá.</a:t>
            </a:r>
            <a:endParaRPr lang="en-US" sz="1200" dirty="0"/>
          </a:p>
        </p:txBody>
      </p:sp>
      <p:sp>
        <p:nvSpPr>
          <p:cNvPr id="23" name="Ellenőriztess is"/>
          <p:cNvSpPr/>
          <p:nvPr/>
        </p:nvSpPr>
        <p:spPr>
          <a:xfrm>
            <a:off x="3264408" y="2926080"/>
            <a:ext cx="2624328" cy="1691640"/>
          </a:xfrm>
          <a:prstGeom prst="roundRect">
            <a:avLst>
              <a:gd name="adj" fmla="val 6486"/>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24" name="Ellenőriztess is kör"/>
          <p:cNvSpPr/>
          <p:nvPr/>
        </p:nvSpPr>
        <p:spPr>
          <a:xfrm>
            <a:off x="3465576" y="3127248"/>
            <a:ext cx="475488" cy="475488"/>
          </a:xfrm>
          <a:prstGeom prst="ellipse">
            <a:avLst/>
          </a:prstGeom>
          <a:solidFill>
            <a:srgbClr val="283168"/>
          </a:solidFill>
          <a:ln w="12700">
            <a:solidFill>
              <a:srgbClr val="283168"/>
            </a:solidFill>
            <a:prstDash val="solid"/>
          </a:ln>
        </p:spPr>
      </p:sp>
      <p:pic>
        <p:nvPicPr>
          <p:cNvPr id="25" name="Ellenőriztess is ikon" descr="preencoded.png">    </p:cNvPr>
          <p:cNvPicPr>
            <a:picLocks noChangeAspect="1"/>
          </p:cNvPicPr>
          <p:nvPr/>
        </p:nvPicPr>
        <p:blipFill>
          <a:blip r:embed="rId5"/>
          <a:stretch>
            <a:fillRect/>
          </a:stretch>
        </p:blipFill>
        <p:spPr>
          <a:xfrm>
            <a:off x="3584448" y="3246120"/>
            <a:ext cx="237744" cy="237744"/>
          </a:xfrm>
          <a:prstGeom prst="rect">
            <a:avLst/>
          </a:prstGeom>
        </p:spPr>
      </p:pic>
      <p:sp>
        <p:nvSpPr>
          <p:cNvPr id="26" name="Text 19"/>
          <p:cNvSpPr txBox="1"/>
          <p:nvPr/>
        </p:nvSpPr>
        <p:spPr>
          <a:xfrm>
            <a:off x="3465576" y="3730752"/>
            <a:ext cx="2258568"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Ellenőriztess is</a:t>
            </a:r>
            <a:endParaRPr lang="en-US" sz="1400" dirty="0"/>
          </a:p>
        </p:txBody>
      </p:sp>
      <p:sp>
        <p:nvSpPr>
          <p:cNvPr id="27" name="Text 20"/>
          <p:cNvSpPr txBox="1"/>
          <p:nvPr/>
        </p:nvSpPr>
        <p:spPr>
          <a:xfrm>
            <a:off x="3465576" y="4023360"/>
            <a:ext cx="2258568" cy="54864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Tesztek és végigkattintás: az AI a saját hibáit is megtalálja.</a:t>
            </a:r>
            <a:endParaRPr lang="en-US" sz="1200" dirty="0"/>
          </a:p>
        </p:txBody>
      </p:sp>
      <p:sp>
        <p:nvSpPr>
          <p:cNvPr id="28" name="A döntés emberi"/>
          <p:cNvSpPr/>
          <p:nvPr/>
        </p:nvSpPr>
        <p:spPr>
          <a:xfrm>
            <a:off x="6071616" y="2926080"/>
            <a:ext cx="2624328" cy="1691640"/>
          </a:xfrm>
          <a:prstGeom prst="roundRect">
            <a:avLst>
              <a:gd name="adj" fmla="val 6486"/>
            </a:avLst>
          </a:prstGeom>
          <a:solidFill>
            <a:srgbClr val="FFFFFF"/>
          </a:solidFill>
          <a:ln w="9525">
            <a:solidFill>
              <a:srgbClr val="DAE1E9"/>
            </a:solidFill>
            <a:prstDash val="solid"/>
          </a:ln>
          <a:effectLst>
            <a:outerShdw sx="100000" sy="100000" kx="0" ky="0" algn="bl" rotWithShape="0" blurRad="76200" dist="25400" dir="5400000">
              <a:srgbClr val="283168">
                <a:alpha val="8000"/>
              </a:srgbClr>
            </a:outerShdw>
          </a:effectLst>
        </p:spPr>
      </p:sp>
      <p:sp>
        <p:nvSpPr>
          <p:cNvPr id="29" name="A döntés emberi kör"/>
          <p:cNvSpPr/>
          <p:nvPr/>
        </p:nvSpPr>
        <p:spPr>
          <a:xfrm>
            <a:off x="6272784" y="3127248"/>
            <a:ext cx="475488" cy="475488"/>
          </a:xfrm>
          <a:prstGeom prst="ellipse">
            <a:avLst/>
          </a:prstGeom>
          <a:solidFill>
            <a:srgbClr val="45C396"/>
          </a:solidFill>
          <a:ln w="12700">
            <a:solidFill>
              <a:srgbClr val="45C396"/>
            </a:solidFill>
            <a:prstDash val="solid"/>
          </a:ln>
        </p:spPr>
      </p:sp>
      <p:pic>
        <p:nvPicPr>
          <p:cNvPr id="30" name="A döntés emberi ikon" descr="preencoded.png">    </p:cNvPr>
          <p:cNvPicPr>
            <a:picLocks noChangeAspect="1"/>
          </p:cNvPicPr>
          <p:nvPr/>
        </p:nvPicPr>
        <p:blipFill>
          <a:blip r:embed="rId6"/>
          <a:stretch>
            <a:fillRect/>
          </a:stretch>
        </p:blipFill>
        <p:spPr>
          <a:xfrm>
            <a:off x="6391656" y="3246120"/>
            <a:ext cx="237744" cy="237744"/>
          </a:xfrm>
          <a:prstGeom prst="rect">
            <a:avLst/>
          </a:prstGeom>
        </p:spPr>
      </p:pic>
      <p:sp>
        <p:nvSpPr>
          <p:cNvPr id="31" name="Text 23"/>
          <p:cNvSpPr txBox="1"/>
          <p:nvPr/>
        </p:nvSpPr>
        <p:spPr>
          <a:xfrm>
            <a:off x="6272784" y="3730752"/>
            <a:ext cx="2258568" cy="292608"/>
          </a:xfrm>
          <a:prstGeom prst="rect">
            <a:avLst/>
          </a:prstGeom>
          <a:noFill/>
          <a:ln/>
        </p:spPr>
        <p:txBody>
          <a:bodyPr wrap="square" lIns="0" tIns="0" rIns="0" bIns="0" rtlCol="0" anchor="t"/>
          <a:lstStyle/>
          <a:p>
            <a:pPr indent="0" marL="0">
              <a:buNone/>
            </a:pPr>
            <a:r>
              <a:rPr lang="en-US" sz="1400" b="1" dirty="0">
                <a:solidFill>
                  <a:srgbClr val="283168"/>
                </a:solidFill>
                <a:latin typeface="Calibri" pitchFamily="34" charset="0"/>
                <a:ea typeface="Calibri" pitchFamily="34" charset="-122"/>
                <a:cs typeface="Calibri" pitchFamily="34" charset="-120"/>
              </a:rPr>
              <a:t>A döntés emberi</a:t>
            </a:r>
            <a:endParaRPr lang="en-US" sz="1400" dirty="0"/>
          </a:p>
        </p:txBody>
      </p:sp>
      <p:sp>
        <p:nvSpPr>
          <p:cNvPr id="32" name="Text 24"/>
          <p:cNvSpPr txBox="1"/>
          <p:nvPr/>
        </p:nvSpPr>
        <p:spPr>
          <a:xfrm>
            <a:off x="6272784" y="4023360"/>
            <a:ext cx="2258568" cy="548640"/>
          </a:xfrm>
          <a:prstGeom prst="rect">
            <a:avLst/>
          </a:prstGeom>
          <a:noFill/>
          <a:ln/>
        </p:spPr>
        <p:txBody>
          <a:bodyPr wrap="square" lIns="0" tIns="0" rIns="0" bIns="0" rtlCol="0" anchor="t"/>
          <a:lstStyle/>
          <a:p>
            <a:pPr indent="0" marL="0">
              <a:buNone/>
            </a:pPr>
            <a:r>
              <a:rPr lang="en-US" sz="1200" dirty="0">
                <a:solidFill>
                  <a:srgbClr val="4A545E"/>
                </a:solidFill>
                <a:latin typeface="Calibri" pitchFamily="34" charset="0"/>
                <a:ea typeface="Calibri" pitchFamily="34" charset="-122"/>
                <a:cs typeface="Calibri" pitchFamily="34" charset="-120"/>
              </a:rPr>
              <a:t>Az AI javasol, te döntesz: scope, láthatóság, hangnem.</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C7B8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143000"/>
            <a:ext cx="4114800" cy="274320"/>
          </a:xfrm>
          <a:prstGeom prst="rect">
            <a:avLst/>
          </a:prstGeom>
          <a:noFill/>
          <a:ln/>
        </p:spPr>
        <p:txBody>
          <a:bodyPr wrap="square" lIns="0" tIns="0" rIns="0" bIns="0" rtlCol="0" anchor="t"/>
          <a:lstStyle/>
          <a:p>
            <a:pPr indent="0" marL="0">
              <a:buNone/>
            </a:pPr>
            <a:r>
              <a:rPr lang="en-US" sz="1200" b="1" spc="200" kern="0" dirty="0">
                <a:solidFill>
                  <a:srgbClr val="45C396"/>
                </a:solidFill>
                <a:latin typeface="Calibri" pitchFamily="34" charset="0"/>
                <a:ea typeface="Calibri" pitchFamily="34" charset="-122"/>
                <a:cs typeface="Calibri" pitchFamily="34" charset="-120"/>
              </a:rPr>
              <a:t>HOGYAN TOVÁBB</a:t>
            </a:r>
            <a:endParaRPr lang="en-US" sz="1200" dirty="0"/>
          </a:p>
        </p:txBody>
      </p:sp>
      <p:sp>
        <p:nvSpPr>
          <p:cNvPr id="3" name="szakasz D"/>
          <p:cNvSpPr/>
          <p:nvPr/>
        </p:nvSpPr>
        <p:spPr>
          <a:xfrm>
            <a:off x="457200" y="1645920"/>
            <a:ext cx="566928" cy="566928"/>
          </a:xfrm>
          <a:prstGeom prst="ellipse">
            <a:avLst/>
          </a:prstGeom>
          <a:solidFill>
            <a:srgbClr val="45C396"/>
          </a:solidFill>
          <a:ln w="12700">
            <a:solidFill>
              <a:srgbClr val="45C396"/>
            </a:solidFill>
            <a:prstDash val="solid"/>
          </a:ln>
        </p:spPr>
      </p:sp>
      <p:sp>
        <p:nvSpPr>
          <p:cNvPr id="4" name="Text 2"/>
          <p:cNvSpPr txBox="1"/>
          <p:nvPr/>
        </p:nvSpPr>
        <p:spPr>
          <a:xfrm>
            <a:off x="457200" y="16459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Gothic" pitchFamily="34" charset="0"/>
                <a:ea typeface="Century Gothic" pitchFamily="34" charset="-122"/>
                <a:cs typeface="Century Gothic" pitchFamily="34" charset="-120"/>
              </a:rPr>
              <a:t>D</a:t>
            </a:r>
            <a:endParaRPr lang="en-US" sz="2000" dirty="0"/>
          </a:p>
        </p:txBody>
      </p:sp>
      <p:sp>
        <p:nvSpPr>
          <p:cNvPr id="5" name="Text 3"/>
          <p:cNvSpPr txBox="1"/>
          <p:nvPr/>
        </p:nvSpPr>
        <p:spPr>
          <a:xfrm>
            <a:off x="1234440" y="1645920"/>
            <a:ext cx="347472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Ügyintézői nézet</a:t>
            </a:r>
            <a:endParaRPr lang="en-US" sz="1600" dirty="0"/>
          </a:p>
        </p:txBody>
      </p:sp>
      <p:sp>
        <p:nvSpPr>
          <p:cNvPr id="6" name="Text 4"/>
          <p:cNvSpPr txBox="1"/>
          <p:nvPr/>
        </p:nvSpPr>
        <p:spPr>
          <a:xfrm>
            <a:off x="1234440" y="1947672"/>
            <a:ext cx="3474720" cy="457200"/>
          </a:xfrm>
          <a:prstGeom prst="rect">
            <a:avLst/>
          </a:prstGeom>
          <a:noFill/>
          <a:ln/>
        </p:spPr>
        <p:txBody>
          <a:bodyPr wrap="square" lIns="0" tIns="0" rIns="0" bIns="0" rtlCol="0" anchor="t"/>
          <a:lstStyle/>
          <a:p>
            <a:pPr indent="0" marL="0">
              <a:buNone/>
            </a:pPr>
            <a:r>
              <a:rPr lang="en-US" sz="1200" dirty="0">
                <a:solidFill>
                  <a:srgbClr val="C9CEEA"/>
                </a:solidFill>
                <a:latin typeface="Calibri" pitchFamily="34" charset="0"/>
                <a:ea typeface="Calibri" pitchFamily="34" charset="-122"/>
                <a:cs typeface="Calibri" pitchFamily="34" charset="-120"/>
              </a:rPr>
              <a:t>Összesítő, tételtábla, párosítás, gyors válaszok</a:t>
            </a:r>
            <a:endParaRPr lang="en-US" sz="1200" dirty="0"/>
          </a:p>
        </p:txBody>
      </p:sp>
      <p:sp>
        <p:nvSpPr>
          <p:cNvPr id="7" name="szakasz E"/>
          <p:cNvSpPr/>
          <p:nvPr/>
        </p:nvSpPr>
        <p:spPr>
          <a:xfrm>
            <a:off x="457200" y="2697480"/>
            <a:ext cx="566928" cy="566928"/>
          </a:xfrm>
          <a:prstGeom prst="ellipse">
            <a:avLst/>
          </a:prstGeom>
          <a:solidFill>
            <a:srgbClr val="45C396"/>
          </a:solidFill>
          <a:ln w="12700">
            <a:solidFill>
              <a:srgbClr val="45C396"/>
            </a:solidFill>
            <a:prstDash val="solid"/>
          </a:ln>
        </p:spPr>
      </p:sp>
      <p:sp>
        <p:nvSpPr>
          <p:cNvPr id="8" name="Text 6"/>
          <p:cNvSpPr txBox="1"/>
          <p:nvPr/>
        </p:nvSpPr>
        <p:spPr>
          <a:xfrm>
            <a:off x="457200" y="2697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Gothic" pitchFamily="34" charset="0"/>
                <a:ea typeface="Century Gothic" pitchFamily="34" charset="-122"/>
                <a:cs typeface="Century Gothic" pitchFamily="34" charset="-120"/>
              </a:rPr>
              <a:t>E</a:t>
            </a:r>
            <a:endParaRPr lang="en-US" sz="2000" dirty="0"/>
          </a:p>
        </p:txBody>
      </p:sp>
      <p:sp>
        <p:nvSpPr>
          <p:cNvPr id="9" name="Text 7"/>
          <p:cNvSpPr txBox="1"/>
          <p:nvPr/>
        </p:nvSpPr>
        <p:spPr>
          <a:xfrm>
            <a:off x="1234440" y="2697480"/>
            <a:ext cx="3474720" cy="29260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Felhasználói teszt és bemutató</a:t>
            </a:r>
            <a:endParaRPr lang="en-US" sz="1600" dirty="0"/>
          </a:p>
        </p:txBody>
      </p:sp>
      <p:sp>
        <p:nvSpPr>
          <p:cNvPr id="10" name="Text 8"/>
          <p:cNvSpPr txBox="1"/>
          <p:nvPr/>
        </p:nvSpPr>
        <p:spPr>
          <a:xfrm>
            <a:off x="1234440" y="2999232"/>
            <a:ext cx="3474720" cy="457200"/>
          </a:xfrm>
          <a:prstGeom prst="rect">
            <a:avLst/>
          </a:prstGeom>
          <a:noFill/>
          <a:ln/>
        </p:spPr>
        <p:txBody>
          <a:bodyPr wrap="square" lIns="0" tIns="0" rIns="0" bIns="0" rtlCol="0" anchor="t"/>
          <a:lstStyle/>
          <a:p>
            <a:pPr indent="0" marL="0">
              <a:buNone/>
            </a:pPr>
            <a:r>
              <a:rPr lang="en-US" sz="1200" dirty="0">
                <a:solidFill>
                  <a:srgbClr val="C9CEEA"/>
                </a:solidFill>
                <a:latin typeface="Calibri" pitchFamily="34" charset="0"/>
                <a:ea typeface="Calibri" pitchFamily="34" charset="-122"/>
                <a:cs typeface="Calibri" pitchFamily="34" charset="-120"/>
              </a:rPr>
              <a:t>Tesztfeladatok, bemutató-forgatókönyv, megosztható build</a:t>
            </a:r>
            <a:endParaRPr lang="en-US" sz="1200" dirty="0"/>
          </a:p>
        </p:txBody>
      </p:sp>
      <p:sp>
        <p:nvSpPr>
          <p:cNvPr id="11" name="Text 9"/>
          <p:cNvSpPr txBox="1"/>
          <p:nvPr/>
        </p:nvSpPr>
        <p:spPr>
          <a:xfrm>
            <a:off x="5120640" y="1737360"/>
            <a:ext cx="3566160" cy="822960"/>
          </a:xfrm>
          <a:prstGeom prst="rect">
            <a:avLst/>
          </a:prstGeom>
          <a:noFill/>
          <a:ln/>
        </p:spPr>
        <p:txBody>
          <a:bodyPr wrap="square" lIns="0" tIns="0" rIns="0" bIns="0" rtlCol="0" anchor="t"/>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Köszönöm!</a:t>
            </a:r>
            <a:endParaRPr lang="en-US" sz="4000" dirty="0"/>
          </a:p>
        </p:txBody>
      </p:sp>
      <p:sp>
        <p:nvSpPr>
          <p:cNvPr id="12" name="Text 10"/>
          <p:cNvSpPr txBox="1"/>
          <p:nvPr/>
        </p:nvSpPr>
        <p:spPr>
          <a:xfrm>
            <a:off x="5120640" y="2606040"/>
            <a:ext cx="3566160" cy="548640"/>
          </a:xfrm>
          <a:prstGeom prst="rect">
            <a:avLst/>
          </a:prstGeom>
          <a:noFill/>
          <a:ln/>
        </p:spPr>
        <p:txBody>
          <a:bodyPr wrap="square" lIns="0" tIns="0" rIns="0" bIns="0" rtlCol="0" anchor="t"/>
          <a:lstStyle/>
          <a:p>
            <a:pPr indent="0" marL="0">
              <a:buNone/>
            </a:pPr>
            <a:r>
              <a:rPr lang="en-US" sz="2400" dirty="0">
                <a:solidFill>
                  <a:srgbClr val="45C396"/>
                </a:solidFill>
                <a:latin typeface="Century Gothic" pitchFamily="34" charset="0"/>
                <a:ea typeface="Century Gothic" pitchFamily="34" charset="-122"/>
                <a:cs typeface="Century Gothic" pitchFamily="34" charset="-120"/>
              </a:rPr>
              <a:t>Kérdések?</a:t>
            </a:r>
            <a:endParaRPr lang="en-US" sz="2400" dirty="0"/>
          </a:p>
        </p:txBody>
      </p:sp>
      <p:sp>
        <p:nvSpPr>
          <p:cNvPr id="13" name="Text 11"/>
          <p:cNvSpPr txBox="1"/>
          <p:nvPr/>
        </p:nvSpPr>
        <p:spPr>
          <a:xfrm>
            <a:off x="5120640" y="3383280"/>
            <a:ext cx="3566160" cy="548640"/>
          </a:xfrm>
          <a:prstGeom prst="rect">
            <a:avLst/>
          </a:prstGeom>
          <a:noFill/>
          <a:ln/>
        </p:spPr>
        <p:txBody>
          <a:bodyPr wrap="square" lIns="0" tIns="0" rIns="0" bIns="0" rtlCol="0" anchor="t"/>
          <a:lstStyle/>
          <a:p>
            <a:pPr indent="0" marL="0">
              <a:buNone/>
            </a:pPr>
            <a:r>
              <a:rPr lang="en-US" sz="1200" dirty="0">
                <a:solidFill>
                  <a:srgbClr val="AEB5D6"/>
                </a:solidFill>
                <a:latin typeface="Calibri" pitchFamily="34" charset="0"/>
                <a:ea typeface="Calibri" pitchFamily="34" charset="-122"/>
                <a:cs typeface="Calibri" pitchFamily="34" charset="-120"/>
              </a:rPr>
              <a:t>A prototípus, a folyamatábrák és a munkaanyagok a projektmappában érhetők el.</a:t>
            </a:r>
            <a:endParaRPr lang="en-US" sz="1200" dirty="0"/>
          </a:p>
        </p:txBody>
      </p:sp>
    </p:spTree>
  </p:cSld>
  <p:clrMapOvr>
    <a:masterClrMapping/>
  </p:clrMapOvr>
</p:sld>
</file>

<file path=ppt/theme/theme1.xml><?xml version="1.0" encoding="utf-8"?>
<a:theme xmlns:a="http://schemas.openxmlformats.org/drawingml/2006/main" name="Groupama prezentáció">
  <a:themeElements>
    <a:clrScheme name="Groupama prezentáció">
      <a:dk1>
        <a:srgbClr val="30373D"/>
      </a:dk1>
      <a:lt1>
        <a:srgbClr val="FFFFFF"/>
      </a:lt1>
      <a:dk2>
        <a:srgbClr val="283168"/>
      </a:dk2>
      <a:lt2>
        <a:srgbClr val="F3F3F9"/>
      </a:lt2>
      <a:accent1>
        <a:srgbClr val="45C396"/>
      </a:accent1>
      <a:accent2>
        <a:srgbClr val="283168"/>
      </a:accent2>
      <a:accent3>
        <a:srgbClr val="00B08A"/>
      </a:accent3>
      <a:accent4>
        <a:srgbClr val="FFD36F"/>
      </a:accent4>
      <a:accent5>
        <a:srgbClr val="C0392B"/>
      </a:accent5>
      <a:accent6>
        <a:srgbClr val="6C7B8A"/>
      </a:accent6>
      <a:hlink>
        <a:srgbClr val="00B08A"/>
      </a:hlink>
      <a:folHlink>
        <a:srgbClr val="283168"/>
      </a:folHlink>
    </a:clrScheme>
    <a:fontScheme name="Groupama prezentáció">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Prototípus AI-val, lépésről lépésre</dc:title>
  <dc:subject>Ügyfél Portál – Díjadatok gyakorló projekt</dc:subject>
  <dc:creator>AI képzés – gyakorló projekt</dc:creator>
  <cp:lastModifiedBy>AI képzés – gyakorló projekt</cp:lastModifiedBy>
  <cp:revision>1</cp:revision>
  <dcterms:created xsi:type="dcterms:W3CDTF">2026-10-22T13:52:09Z</dcterms:created>
  <dcterms:modified xsi:type="dcterms:W3CDTF">2026-10-22T13:52:09Z</dcterms:modified>
</cp:coreProperties>
</file>